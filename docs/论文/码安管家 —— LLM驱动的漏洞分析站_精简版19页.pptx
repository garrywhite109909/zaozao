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32"/>
  </p:notesMasterIdLst>
  <p:sldIdLst>
    <p:sldId id="256" r:id="rId4"/>
    <p:sldId id="257" r:id="rId5"/>
    <p:sldId id="258" r:id="rId6"/>
    <p:sldId id="259" r:id="rId7"/>
    <p:sldId id="260" r:id="rId9"/>
    <p:sldId id="264" r:id="rId12"/>
    <p:sldId id="265" r:id="rId13"/>
    <p:sldId id="266" r:id="rId14"/>
    <p:sldId id="270" r:id="rId17"/>
    <p:sldId id="271" r:id="rId18"/>
    <p:sldId id="272" r:id="rId19"/>
    <p:sldId id="273" r:id="rId20"/>
    <p:sldId id="274" r:id="rId21"/>
    <p:sldId id="276" r:id="rId23"/>
    <p:sldId id="268" r:id="rId15"/>
    <p:sldId id="269" r:id="rId16"/>
    <p:sldId id="277" r:id="rId22"/>
    <p:sldId id="279" r:id="rId26"/>
    <p:sldId id="282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6770"/>
    <a:srgbClr val="7B8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088" autoAdjust="0"/>
  </p:normalViewPr>
  <p:slideViewPr>
    <p:cSldViewPr snapToGrid="0">
      <p:cViewPr varScale="1">
        <p:scale>
          <a:sx n="92" d="100"/>
          <a:sy n="92" d="100"/>
        </p:scale>
        <p:origin x="7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9" Type="http://schemas.openxmlformats.org/officeDocument/2006/relationships/slide" Target="slides/slide6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6" Type="http://schemas.openxmlformats.org/officeDocument/2006/relationships/slide" Target="slides/slide23.xml"/><Relationship Id="rId28" Type="http://schemas.openxmlformats.org/officeDocument/2006/relationships/slide" Target="slides/slide25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历年披露量</c:v>
          </c:tx>
          <c:spPr>
            <a:solidFill>
              <a:srgbClr val="4A7FA5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0">
                <c:v>6500</c:v>
              </c:pt>
              <c:pt idx="1">
                <c:v>9700</c:v>
              </c:pt>
              <c:pt idx="2">
                <c:v>14700</c:v>
              </c:pt>
              <c:pt idx="3">
                <c:v>16500</c:v>
              </c:pt>
              <c:pt idx="4">
                <c:v>17300</c:v>
              </c:pt>
              <c:pt idx="5">
                <c:v>18300</c:v>
              </c:pt>
              <c:pt idx="6">
                <c:v>20100</c:v>
              </c:pt>
              <c:pt idx="7">
                <c:v>25400</c:v>
              </c:pt>
              <c:pt idx="8">
                <c:v>29000</c:v>
              </c:pt>
            </c:numLit>
          </c:val>
          <c:extLst>
            <c:ext xmlns:c16="http://schemas.microsoft.com/office/drawing/2014/chart" uri="{C3380CC4-5D6E-409C-BE32-E72D297353CC}">
              <c16:uniqueId val="{00000000-CFAF-4C5C-8822-607567936C76}"/>
            </c:ext>
          </c:extLst>
        </c:ser>
        <c:ser>
          <c:idx val="1"/>
          <c:order val="1"/>
          <c:tx>
            <c:v>近两年（高压区间）</c:v>
          </c:tx>
          <c:spPr>
            <a:solidFill>
              <a:srgbClr val="C0504D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9">
                <c:v>40000</c:v>
              </c:pt>
              <c:pt idx="10">
                <c:v>48185</c:v>
              </c:pt>
            </c:numLit>
          </c:val>
          <c:extLst>
            <c:ext xmlns:c16="http://schemas.microsoft.com/office/drawing/2014/chart" uri="{C3380CC4-5D6E-409C-BE32-E72D297353CC}">
              <c16:uniqueId val="{00000001-CFAF-4C5C-8822-607567936C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 rot="0" spcFirstLastPara="0" anchorCtr="0"/>
        <a:lstStyle/>
        <a:p>
          <a:pPr>
            <a:defRPr sz="1000" b="0" i="0" strike="noStrike" kern="1200" spc="0" baseline="0"/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633009695022622E-2"/>
          <c:y val="1.7858655770542992E-2"/>
          <c:w val="0.92639595201061542"/>
          <c:h val="0.8138746614299101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召回率</c:v>
                </c:pt>
              </c:strCache>
            </c:strRef>
          </c:tx>
          <c:spPr>
            <a:solidFill>
              <a:srgbClr val="4A7FA5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0.60699999999999998</c:v>
                </c:pt>
                <c:pt idx="1">
                  <c:v>0.91800000000000004</c:v>
                </c:pt>
                <c:pt idx="2">
                  <c:v>0.96699999999999997</c:v>
                </c:pt>
                <c:pt idx="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35-465B-ACB2-1313B5F16F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误报率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0.23100000000000001</c:v>
                </c:pt>
                <c:pt idx="1">
                  <c:v>0.192</c:v>
                </c:pt>
                <c:pt idx="2">
                  <c:v>0.154</c:v>
                </c:pt>
                <c:pt idx="3">
                  <c:v>4.2999999999999997E-2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535-465B-ACB2-1313B5F16F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6FA39B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0.65500000000000003</c:v>
                </c:pt>
                <c:pt idx="1">
                  <c:v>0.88500000000000001</c:v>
                </c:pt>
                <c:pt idx="2">
                  <c:v>0.93100000000000005</c:v>
                </c:pt>
                <c:pt idx="3">
                  <c:v>0.98699999999999999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535-465B-ACB2-1313B5F16F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8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750">
          <a:latin typeface="思源黑体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rolling_dev 50 召回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AA8B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BE5-4BF2-A6BE-0D4423172FFD}"/>
              </c:ext>
            </c:extLst>
          </c:dPt>
          <c:dPt>
            <c:idx val="1"/>
            <c:invertIfNegative val="1"/>
            <c:bubble3D val="0"/>
            <c:spPr>
              <a:solidFill>
                <a:srgbClr val="7FA6C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BE5-4BF2-A6BE-0D4423172FFD}"/>
              </c:ext>
            </c:extLst>
          </c:dPt>
          <c:dPt>
            <c:idx val="2"/>
            <c:invertIfNegative val="1"/>
            <c:bubble3D val="0"/>
            <c:spPr>
              <a:solidFill>
                <a:srgbClr val="4A7FA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BE5-4BF2-A6BE-0D4423172FFD}"/>
              </c:ext>
            </c:extLst>
          </c:dPt>
          <c:dPt>
            <c:idx val="3"/>
            <c:invertIfNegative val="1"/>
            <c:bubble3D val="0"/>
            <c:spPr>
              <a:solidFill>
                <a:srgbClr val="D9962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BE5-4BF2-A6BE-0D4423172FF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0.06</c:v>
                </c:pt>
                <c:pt idx="1">
                  <c:v>0.35099999999999998</c:v>
                </c:pt>
                <c:pt idx="2">
                  <c:v>0.59499999999999997</c:v>
                </c:pt>
                <c:pt idx="3">
                  <c:v>0.64500000000000002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BE5-4BF2-A6BE-0D4423172F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7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800">
          <a:latin typeface="思源黑体"/>
        </a:defRPr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rgbClr val="D9962E"/>
              </a:solidFill>
            </c:spPr>
            <c:extLst>
              <c:ext xmlns:c16="http://schemas.microsoft.com/office/drawing/2014/chart" uri="{C3380CC4-5D6E-409C-BE32-E72D297353CC}">
                <c16:uniqueId val="{00000001-2B6A-4D16-824B-CE83039D8784}"/>
              </c:ext>
            </c:extLst>
          </c:dPt>
          <c:dPt>
            <c:idx val="1"/>
            <c:bubble3D val="0"/>
            <c:spPr>
              <a:solidFill>
                <a:srgbClr val="4A7FA5"/>
              </a:solidFill>
            </c:spPr>
            <c:extLst>
              <c:ext xmlns:c16="http://schemas.microsoft.com/office/drawing/2014/chart" uri="{C3380CC4-5D6E-409C-BE32-E72D297353CC}">
                <c16:uniqueId val="{00000003-2B6A-4D16-824B-CE83039D8784}"/>
              </c:ext>
            </c:extLst>
          </c:dPt>
          <c:cat>
            <c:strRef>
              <c:f>Sheet1!$A$2:$A$3</c:f>
              <c:strCache>
                <c:ptCount val="2"/>
                <c:pt idx="0">
                  <c:v>误报</c:v>
                </c:pt>
                <c:pt idx="1">
                  <c:v>正确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4.3499999999999996</c:v>
                </c:pt>
                <c:pt idx="1">
                  <c:v>95.65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6A-4D16-824B-CE83039D8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各位老师好，我们是白明耀、易卓玥，我们的参赛项目是《码安管家——LLM驱动的漏洞分析站》，开源软件名为凿凿，内核模型为我们自主训练的 Nivis-α0.5，指导教师是陈纪友老师。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看目录。整个叙事围绕「寻找和体现价值」展开：先讲背景和目标，再分数据、训练、实验三层讲能力，然后是项目本体的架构与结果，最后是实机演示和未来规划。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进入正题——研究背景。这是整个想法的起点：漏洞规模在涨，人工审计追不上，单一工具也追不上漏洞的语义复杂度。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这里有着详细的数据，漏洞规模10年增长了7.4倍。数量增长的同时，难度也持续提高，现在真实CVE和正常代码几乎一样，工具规则能筛选出的漏洞已经到达了极限。</a:t>
            </a:r>
          </a:p>
          <a:p/>
          <a:p>
            <a:r>
              <a:t>【10 分钟精简版 · 口播与计时】</a:t>
            </a:r>
          </a:p>
          <a:p>
            <a:r>
              <a:t>主张：漏洞量十年 7.4 倍；更麻烦的是真实 CVE 与正常代码几乎一样，规则工具已到极限。30 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这一页看真实 CVE 上的四条路线。左上是 87 段合成集；右下是我们专门为找 α0.5 弱点构建的 rolling_dev 50——多语言真实 CVE 修复前代码，官方口径标签已修正。结论很直接：纯规则工具只有 6%，在多语言真实 CVE 上基本全盲，说明它 87 集 60% 的高分强依赖语言分布、不可外推；纯基座 35%；微调后 59.5%，SFT 增益 24 个点——训练的效果直接可见；再叠加两阶段架构到 64.5%——口径注意：50 段里 31 段出了明确判决、其中召回 20 段；另 19 段（38%）置信门槛不达标，按设计转人工兜底、不硬猜——不是没跑完，也不是 OOM。切片后的短上下文还绕开了纯 LLM 的 16GB 显存瓶颈——对比之下纯基座和微调两条线各有 13 段 CUDA OOM，它们的 35% 和 59.5% 也是 37 段有效内的口径，被追问分母时要说清。还要说明：针对这批弱点蒸馏的数据已冻结、还没开训，α0.6 训完这个集的成绩还会大涨。</a:t>
            </a:r>
          </a:p>
          <a:p/>
          <a:p>
            <a:r>
              <a:t>【10 分钟精简版 · 口播与计时】</a:t>
            </a:r>
          </a:p>
          <a:p>
            <a:r>
              <a:t>主张：四条路线实测——纯规则工具在多语言真实 CVE 上召回只有 6%，纯基座 35%，微调后 59.5%，叠加两阶段 64.5%。结论：工具负责找全、模型负责判准。45 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第三章是本次汇报的核心：我们会做什么、能应对什么问题——从数据、训练、实验三层展开我们的能力。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我们分数据层、训练层、实验层来讲能力，先从数据层开始。</a:t>
            </a:r>
          </a:p>
          <a:p/>
          <a:p>
            <a:r>
              <a:t>【10 分钟精简版 · 口播与计时】</a:t>
            </a:r>
          </a:p>
          <a:p>
            <a:r>
              <a:t>【全场支点】讲 60 秒：四层能力各一句，讲完让评委知道后面在看什么。收尾金句：终点不是训出一个模型，而是知道怎样走才更接近真理。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数据层最重要的能力是严谨地构建测试集、合理地蒸馏和清洗语料。所以我们会拿官方文档构建测试样本，修正过我们自以为是的错标；会先跑典型漏洞、难样本、真实 CVE 和安全对照，找出模型弱点再定向蒸馏；会用网页端更强的模型配上自制提示词，做成千上万条数据的审计；还会在源头上写严格门控，让蒸馏少出错。这些能力帮我们解决了不少数据层面的问题。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训练层最重要的思想是提升泛化：条件不允许做后训练以外的训练，CPT 极易扰动模型思维，SFT 只改行为层在本项目更可取，DPO 和 GRPO 也是可行的后训练手段。想清楚训练方式和训练目标，是一切训练工作的前提。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实验最重要的是严谨——验证自己是不是错了。最开始我们只有召回、误报、漏报、正确率四个数，后来一步步理清口径，有了 strict 准确率、micro/macro 多漏洞召回、风险加权分、未决率。实验本体也足够严谨：每项实验单一变量、重复多次，发现多变量立即推翻重做。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第四章看项目本体：依次是架构、核心结果、全栈工程和成本治理，每一项都拿得出可复现的证据。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整体架构分两个阶段。输入的代码先进 Stage 1 分成有候选和无候选：有候选的进 Stage 2 裁决；无候选的走全文件复核——这里有个已知矛盾点：大仓库和长文件会高频触发全文件复核，我们的下一代架构已经预留了设计：无候选时先调 API 模型产出候选再注入 Stage 2，更省资源。两条分支在聚合处汇合，候选被全部否决会强制复核。最终输出安全、有漏洞、需人工复核三档。</a:t>
            </a:r>
          </a:p>
          <a:p/>
          <a:p>
            <a:r>
              <a:t>【10 分钟精简版 · 口播与计时】</a:t>
            </a:r>
          </a:p>
          <a:p>
            <a:r>
              <a:t>架构总览 60 秒。主动交代已知边界：大仓库下无候选全量复核成本高，下一代已预留「先由 API 模型产出候选再注入 Stage 2」。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整体看完了，现在可以看具体作用：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Stage 1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负责产出证据链、可疑候选和确定性问题。汇合后注入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prompt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进入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是推理阶段，但推理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prompt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怎么来也是算在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stage2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的，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RAG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和</a:t>
            </a: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CodeSlicer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都是在为输入做准备，能够使得模型得到最有效的上下文。默认经过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3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次推理后进入下一个阶段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所谓的下一阶段也就是信任层，此信任层是我们检索到了一些可以用在本项目的技术，从而搭建起来的，效果还是非常显著的。使得最终结果不仅分级效果很好，而且降低了误报率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简单来看一下本项目的自研工具链的汇总。可以看到是谁也离不开谁，能够层层有条不紊地运行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此页全为alpha05模型测试数据，迭代多轮工具链性能和信任层性能，目前wave8为最好成绩</a:t>
            </a:r>
          </a:p>
          <a:p/>
          <a:p>
            <a:r>
              <a:t>【10 分钟精简版 · 口播与计时】</a:t>
            </a:r>
          </a:p>
          <a:p>
            <a:r>
              <a:t>结果页 60 秒，只说三个数：误报 0.154→0.0435、召回 0.967→1.000、strict 0.774→0.923。强调「不靠漏报换误报」；主动交代未决率上升是信任层保守设计的代价，不是判错。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下面进入系统演示：从粘贴代码到 SARIF 报告，每一个界面背后都是刚才那套引擎在真实运行。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【10 分钟精简版 · 口播与计时】</a:t>
            </a:r>
          </a:p>
          <a:p>
            <a:r>
              <a:t>现场播放 2 分 54 秒视频。务必提前在本机预跑一遍，确认 Ollama 模型已就位。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8902A17-7209-4A15-BA1A-4FEA8AE5772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4B41343-6EF6-4407-B17D-F78F058925C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9C7DE80-5047-41A4-9A14-74EE7AE27EC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9F3BD2C-9E0B-410D-98F9-3B856FB1F8C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682CADE-9BC9-4DC8-B654-E62AEBBC0CE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C7C034A-D3E9-4784-95A9-5F99BC4E4EA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46AE82-1908-453E-A386-F6EBDF07448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DAABF67-4DE7-4847-851B-3C621F5DAD6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7E92871-0D9F-4D8D-B3D1-85A894FC1C8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A82EA58-E161-41AA-9F0C-B851FAF01D2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A5D16BD-82D5-4AB0-AC7D-423ECD43164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15.png"/><Relationship Id="rId10" Type="http://schemas.openxmlformats.org/officeDocument/2006/relationships/image" Target="../media/image16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5.xml"/><Relationship Id="rId5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>
            <a:extLst>
              <a:ext uri="{FF2B5EF4-FFF2-40B4-BE49-F238E27FC236}">
                <a16:creationId xmlns:a16="http://schemas.microsoft.com/office/drawing/2014/main" id="{6E919FDF-38AC-4587-9863-C06406EEBC5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73651F14-DDF8-4D8E-843B-2DD63DE8C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5459" y="507999"/>
            <a:ext cx="709141" cy="70914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4">
            <a:extLst>
              <a:ext uri="{FF2B5EF4-FFF2-40B4-BE49-F238E27FC236}">
                <a16:creationId xmlns:a16="http://schemas.microsoft.com/office/drawing/2014/main" id="{A1BCAC51-EF1F-40C6-B160-49821E60BB12}"/>
              </a:ext>
            </a:extLst>
          </p:cNvPr>
          <p:cNvSpPr/>
          <p:nvPr/>
        </p:nvSpPr>
        <p:spPr>
          <a:xfrm>
            <a:off x="1371600" y="533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2400" dirty="0"/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D0A55632-1559-49CD-B6A6-41BAA6489396}"/>
              </a:ext>
            </a:extLst>
          </p:cNvPr>
          <p:cNvSpPr/>
          <p:nvPr/>
        </p:nvSpPr>
        <p:spPr>
          <a:xfrm>
            <a:off x="1384300" y="9652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Code Security Analysis, Augmented by LLM</a:t>
            </a:r>
            <a:endParaRPr lang="en-US" sz="1000" dirty="0"/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751254CD-AE0B-4DC5-853B-D293EEAF745B}"/>
              </a:ext>
            </a:extLst>
          </p:cNvPr>
          <p:cNvSpPr/>
          <p:nvPr/>
        </p:nvSpPr>
        <p:spPr>
          <a:xfrm>
            <a:off x="8877300" y="1555593"/>
            <a:ext cx="3048000" cy="3048000"/>
          </a:xfrm>
          <a:prstGeom prst="ellipse">
            <a:avLst/>
          </a:prstGeom>
          <a:solidFill>
            <a:srgbClr val="4A7FA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7">
            <a:extLst>
              <a:ext uri="{FF2B5EF4-FFF2-40B4-BE49-F238E27FC236}">
                <a16:creationId xmlns:a16="http://schemas.microsoft.com/office/drawing/2014/main" id="{0FCE41CD-F28C-4BAB-99C0-C2FF43BF3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44227" y="1864807"/>
            <a:ext cx="2438400" cy="243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8">
            <a:extLst>
              <a:ext uri="{FF2B5EF4-FFF2-40B4-BE49-F238E27FC236}">
                <a16:creationId xmlns:a16="http://schemas.microsoft.com/office/drawing/2014/main" id="{D39EF563-2C38-40B9-89EE-B03E849586EC}"/>
              </a:ext>
            </a:extLst>
          </p:cNvPr>
          <p:cNvSpPr/>
          <p:nvPr/>
        </p:nvSpPr>
        <p:spPr>
          <a:xfrm>
            <a:off x="685800" y="2489200"/>
            <a:ext cx="812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1100" dirty="0"/>
          </a:p>
        </p:txBody>
      </p:sp>
      <p:sp>
        <p:nvSpPr>
          <p:cNvPr id="28" name="AutoShape 9">
            <a:extLst>
              <a:ext uri="{FF2B5EF4-FFF2-40B4-BE49-F238E27FC236}">
                <a16:creationId xmlns:a16="http://schemas.microsoft.com/office/drawing/2014/main" id="{0D412E8F-0081-42AB-A28C-9CDFDF33431C}"/>
              </a:ext>
            </a:extLst>
          </p:cNvPr>
          <p:cNvSpPr/>
          <p:nvPr/>
        </p:nvSpPr>
        <p:spPr>
          <a:xfrm>
            <a:off x="685800" y="2319046"/>
            <a:ext cx="800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zh-CN" altLang="en-US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</a:t>
            </a:r>
            <a:endParaRPr lang="en-US" altLang="zh-CN" sz="37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4166"/>
              </a:lnSpc>
              <a:defRPr/>
            </a:pPr>
            <a:r>
              <a:rPr lang="en-US" altLang="zh-CN" sz="37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en-US" altLang="zh-CN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LLM</a:t>
            </a:r>
            <a:r>
              <a:rPr lang="zh-CN" altLang="en-US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驱动的漏洞分析站</a:t>
            </a:r>
            <a:endParaRPr lang="en-US" sz="37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99B88BFE-DEAA-49E0-8DB5-CBC103513371}"/>
              </a:ext>
            </a:extLst>
          </p:cNvPr>
          <p:cNvSpPr/>
          <p:nvPr/>
        </p:nvSpPr>
        <p:spPr>
          <a:xfrm>
            <a:off x="673100" y="3911626"/>
            <a:ext cx="711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1">
            <a:extLst>
              <a:ext uri="{FF2B5EF4-FFF2-40B4-BE49-F238E27FC236}">
                <a16:creationId xmlns:a16="http://schemas.microsoft.com/office/drawing/2014/main" id="{7BC6CF5F-0C46-4006-A0F8-674A693DEF86}"/>
              </a:ext>
            </a:extLst>
          </p:cNvPr>
          <p:cNvSpPr/>
          <p:nvPr/>
        </p:nvSpPr>
        <p:spPr>
          <a:xfrm>
            <a:off x="673100" y="4252698"/>
            <a:ext cx="787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工具召回 × LLM 裁决的两阶段架构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2000" dirty="0"/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召回率 100%（0 漏报）· 误报率 4.35% · 严格归因 0.923</a:t>
            </a:r>
            <a:endParaRPr lang="en-US" sz="2000" b="0" i="0" u="none" strike="noStrike" dirty="0">
              <a:solidFill>
                <a:srgbClr val="C6D2D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31" name="Connector 12">
            <a:extLst>
              <a:ext uri="{FF2B5EF4-FFF2-40B4-BE49-F238E27FC236}">
                <a16:creationId xmlns:a16="http://schemas.microsoft.com/office/drawing/2014/main" id="{E77F3BA4-C326-4736-8896-1B8CC2314998}"/>
              </a:ext>
            </a:extLst>
          </p:cNvPr>
          <p:cNvCxnSpPr/>
          <p:nvPr/>
        </p:nvCxnSpPr>
        <p:spPr>
          <a:xfrm rot="-4034">
            <a:off x="673104" y="5624489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5C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13">
            <a:extLst>
              <a:ext uri="{FF2B5EF4-FFF2-40B4-BE49-F238E27FC236}">
                <a16:creationId xmlns:a16="http://schemas.microsoft.com/office/drawing/2014/main" id="{BCCE731F-43A5-4894-941C-B4578C62DF05}"/>
              </a:ext>
            </a:extLst>
          </p:cNvPr>
          <p:cNvSpPr/>
          <p:nvPr/>
        </p:nvSpPr>
        <p:spPr>
          <a:xfrm>
            <a:off x="673100" y="5869769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endParaRPr lang="en-US" sz="2000" dirty="0"/>
          </a:p>
        </p:txBody>
      </p:sp>
      <p:sp>
        <p:nvSpPr>
          <p:cNvPr id="33" name="AutoShape 14">
            <a:extLst>
              <a:ext uri="{FF2B5EF4-FFF2-40B4-BE49-F238E27FC236}">
                <a16:creationId xmlns:a16="http://schemas.microsoft.com/office/drawing/2014/main" id="{548019DC-50A6-48FA-A70B-43C4EE888E4B}"/>
              </a:ext>
            </a:extLst>
          </p:cNvPr>
          <p:cNvSpPr/>
          <p:nvPr/>
        </p:nvSpPr>
        <p:spPr>
          <a:xfrm>
            <a:off x="685800" y="6299200"/>
            <a:ext cx="2657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1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白明耀、易卓玥、谭依晴</a:t>
            </a:r>
            <a:endParaRPr lang="en-US" sz="2000" dirty="0"/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A3BFFADD-7D23-4DC0-9378-FEEC434AA6B1}"/>
              </a:ext>
            </a:extLst>
          </p:cNvPr>
          <p:cNvSpPr/>
          <p:nvPr/>
        </p:nvSpPr>
        <p:spPr>
          <a:xfrm>
            <a:off x="3403600" y="5869769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</a:t>
            </a:r>
            <a:endParaRPr lang="en-US" sz="2000" dirty="0"/>
          </a:p>
        </p:txBody>
      </p:sp>
      <p:sp>
        <p:nvSpPr>
          <p:cNvPr id="35" name="AutoShape 16">
            <a:extLst>
              <a:ext uri="{FF2B5EF4-FFF2-40B4-BE49-F238E27FC236}">
                <a16:creationId xmlns:a16="http://schemas.microsoft.com/office/drawing/2014/main" id="{53EFF9C4-DFE2-42DA-8CFC-CE723E7962E5}"/>
              </a:ext>
            </a:extLst>
          </p:cNvPr>
          <p:cNvSpPr/>
          <p:nvPr/>
        </p:nvSpPr>
        <p:spPr>
          <a:xfrm>
            <a:off x="34036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陈纪友</a:t>
            </a:r>
            <a:endParaRPr lang="en-US" sz="2000" dirty="0"/>
          </a:p>
        </p:txBody>
      </p:sp>
      <p:sp>
        <p:nvSpPr>
          <p:cNvPr id="36" name="AutoShape 17">
            <a:extLst>
              <a:ext uri="{FF2B5EF4-FFF2-40B4-BE49-F238E27FC236}">
                <a16:creationId xmlns:a16="http://schemas.microsoft.com/office/drawing/2014/main" id="{748BC56E-CD32-4607-8E69-407F0081D057}"/>
              </a:ext>
            </a:extLst>
          </p:cNvPr>
          <p:cNvSpPr/>
          <p:nvPr/>
        </p:nvSpPr>
        <p:spPr>
          <a:xfrm>
            <a:off x="6134100" y="5867400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所在学院</a:t>
            </a:r>
            <a:endParaRPr lang="en-US" sz="2000" dirty="0"/>
          </a:p>
        </p:txBody>
      </p:sp>
      <p:sp>
        <p:nvSpPr>
          <p:cNvPr id="37" name="AutoShape 18">
            <a:extLst>
              <a:ext uri="{FF2B5EF4-FFF2-40B4-BE49-F238E27FC236}">
                <a16:creationId xmlns:a16="http://schemas.microsoft.com/office/drawing/2014/main" id="{E38AA9E9-3FC1-45F1-A972-47E91D972A70}"/>
              </a:ext>
            </a:extLst>
          </p:cNvPr>
          <p:cNvSpPr/>
          <p:nvPr/>
        </p:nvSpPr>
        <p:spPr>
          <a:xfrm>
            <a:off x="61341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衡阳师范学院</a:t>
            </a:r>
            <a:endParaRPr lang="en-US" sz="2000" dirty="0"/>
          </a:p>
        </p:txBody>
      </p:sp>
      <p:sp>
        <p:nvSpPr>
          <p:cNvPr id="38" name="AutoShape 19">
            <a:extLst>
              <a:ext uri="{FF2B5EF4-FFF2-40B4-BE49-F238E27FC236}">
                <a16:creationId xmlns:a16="http://schemas.microsoft.com/office/drawing/2014/main" id="{587D395B-6C9E-424C-87E9-CA365EC7B83E}"/>
              </a:ext>
            </a:extLst>
          </p:cNvPr>
          <p:cNvSpPr/>
          <p:nvPr/>
        </p:nvSpPr>
        <p:spPr>
          <a:xfrm>
            <a:off x="8864600" y="5850238"/>
            <a:ext cx="254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日期</a:t>
            </a:r>
            <a:endParaRPr lang="en-US" sz="2000" dirty="0"/>
          </a:p>
        </p:txBody>
      </p:sp>
      <p:sp>
        <p:nvSpPr>
          <p:cNvPr id="39" name="AutoShape 20">
            <a:extLst>
              <a:ext uri="{FF2B5EF4-FFF2-40B4-BE49-F238E27FC236}">
                <a16:creationId xmlns:a16="http://schemas.microsoft.com/office/drawing/2014/main" id="{65ED482C-AD8E-4F24-A669-D4FD8FED3839}"/>
              </a:ext>
            </a:extLst>
          </p:cNvPr>
          <p:cNvSpPr/>
          <p:nvPr/>
        </p:nvSpPr>
        <p:spPr>
          <a:xfrm>
            <a:off x="8877300" y="62992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lang="en-US" sz="2000" dirty="0"/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660EA152-47EB-4EBF-8615-AC141E307890}"/>
              </a:ext>
            </a:extLst>
          </p:cNvPr>
          <p:cNvSpPr/>
          <p:nvPr/>
        </p:nvSpPr>
        <p:spPr>
          <a:xfrm>
            <a:off x="1384300" y="579462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687600" y="5083200"/>
            <a:ext cx="8640000" cy="27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项目「码安管家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」  ｜  </a:t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软件「凿凿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」  ｜  </a:t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内核模型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Nivis</a:t>
            </a:r>
            <a:r>
              <a:rPr lang="zh-CN" altLang="en-US" sz="135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系列</a:t>
            </a:r>
            <a:endParaRPr sz="1350" b="0" dirty="0">
              <a:solidFill>
                <a:srgbClr val="C6D2DA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">
            <a:extLst>
              <a:ext uri="{FF2B5EF4-FFF2-40B4-BE49-F238E27FC236}">
                <a16:creationId xmlns:a16="http://schemas.microsoft.com/office/drawing/2014/main" id="{0666B8FE-2093-4CDD-89DD-28444CD778DF}"/>
              </a:ext>
            </a:extLst>
          </p:cNvPr>
          <p:cNvSpPr/>
          <p:nvPr/>
        </p:nvSpPr>
        <p:spPr>
          <a:xfrm>
            <a:off x="685800" y="508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1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CONTENTS</a:t>
            </a:r>
            <a:endParaRPr lang="en-US" sz="1100"/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47A3171D-8712-4477-9D08-8F010ED8D5EC}"/>
              </a:ext>
            </a:extLst>
          </p:cNvPr>
          <p:cNvSpPr/>
          <p:nvPr/>
        </p:nvSpPr>
        <p:spPr>
          <a:xfrm>
            <a:off x="6858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C22DECC0-96EC-44A6-87B9-FF6A5E38D360}"/>
              </a:ext>
            </a:extLst>
          </p:cNvPr>
          <p:cNvSpPr/>
          <p:nvPr/>
        </p:nvSpPr>
        <p:spPr>
          <a:xfrm>
            <a:off x="685800" y="13716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AC99D6-4030-4E9E-AEB2-204C4CFBF691}"/>
              </a:ext>
            </a:extLst>
          </p:cNvPr>
          <p:cNvGrpSpPr/>
          <p:nvPr/>
        </p:nvGrpSpPr>
        <p:grpSpPr>
          <a:xfrm>
            <a:off x="685800" y="1778000"/>
            <a:ext cx="5486400" cy="971550"/>
            <a:chOff x="685800" y="1778000"/>
            <a:chExt cx="5486400" cy="971550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92AEF006-CE39-4A28-9C87-B46C0E76CCC4}"/>
                </a:ext>
              </a:extLst>
            </p:cNvPr>
            <p:cNvSpPr/>
            <p:nvPr/>
          </p:nvSpPr>
          <p:spPr>
            <a:xfrm>
              <a:off x="6858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1100" dirty="0"/>
            </a:p>
          </p:txBody>
        </p:sp>
        <p:sp>
          <p:nvSpPr>
            <p:cNvPr id="35" name="AutoShape 6">
              <a:extLst>
                <a:ext uri="{FF2B5EF4-FFF2-40B4-BE49-F238E27FC236}">
                  <a16:creationId xmlns:a16="http://schemas.microsoft.com/office/drawing/2014/main" id="{63542A55-2FD0-43EC-B6EB-B7DC074D12DD}"/>
                </a:ext>
              </a:extLst>
            </p:cNvPr>
            <p:cNvSpPr/>
            <p:nvPr/>
          </p:nvSpPr>
          <p:spPr>
            <a:xfrm>
              <a:off x="16002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2400" dirty="0"/>
            </a:p>
          </p:txBody>
        </p:sp>
        <p:sp>
          <p:nvSpPr>
            <p:cNvPr id="36" name="AutoShape 7">
              <a:extLst>
                <a:ext uri="{FF2B5EF4-FFF2-40B4-BE49-F238E27FC236}">
                  <a16:creationId xmlns:a16="http://schemas.microsoft.com/office/drawing/2014/main" id="{F526A301-F8E7-4A2E-85DC-A143A6B19CE3}"/>
                </a:ext>
              </a:extLst>
            </p:cNvPr>
            <p:cNvSpPr/>
            <p:nvPr/>
          </p:nvSpPr>
          <p:spPr>
            <a:xfrm>
              <a:off x="1600200" y="2314146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漏洞规模激增，规则工具与纯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LLM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各有盲区</a:t>
              </a:r>
              <a:endParaRPr lang="en-US" sz="1600" dirty="0"/>
            </a:p>
          </p:txBody>
        </p:sp>
        <p:cxnSp>
          <p:nvCxnSpPr>
            <p:cNvPr id="37" name="Connector 8">
              <a:extLst>
                <a:ext uri="{FF2B5EF4-FFF2-40B4-BE49-F238E27FC236}">
                  <a16:creationId xmlns:a16="http://schemas.microsoft.com/office/drawing/2014/main" id="{DE3FB413-1C30-4D1B-8A74-216458404BD1}"/>
                </a:ext>
              </a:extLst>
            </p:cNvPr>
            <p:cNvCxnSpPr/>
            <p:nvPr/>
          </p:nvCxnSpPr>
          <p:spPr>
            <a:xfrm rot="-8384">
              <a:off x="685808" y="27368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ECE2F60-667F-407E-B81F-39F0AC43B68E}"/>
              </a:ext>
            </a:extLst>
          </p:cNvPr>
          <p:cNvGrpSpPr/>
          <p:nvPr/>
        </p:nvGrpSpPr>
        <p:grpSpPr>
          <a:xfrm>
            <a:off x="6350000" y="1778000"/>
            <a:ext cx="5461000" cy="971550"/>
            <a:chOff x="6350000" y="1778000"/>
            <a:chExt cx="5461000" cy="971550"/>
          </a:xfrm>
        </p:grpSpPr>
        <p:sp>
          <p:nvSpPr>
            <p:cNvPr id="38" name="AutoShape 9">
              <a:extLst>
                <a:ext uri="{FF2B5EF4-FFF2-40B4-BE49-F238E27FC236}">
                  <a16:creationId xmlns:a16="http://schemas.microsoft.com/office/drawing/2014/main" id="{80DECBD9-7D11-4049-9534-CD3708ED06C8}"/>
                </a:ext>
              </a:extLst>
            </p:cNvPr>
            <p:cNvSpPr/>
            <p:nvPr/>
          </p:nvSpPr>
          <p:spPr>
            <a:xfrm>
              <a:off x="63500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1100"/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359DF52A-F79D-48D7-9D56-D3CB946ACCC1}"/>
                </a:ext>
              </a:extLst>
            </p:cNvPr>
            <p:cNvSpPr/>
            <p:nvPr/>
          </p:nvSpPr>
          <p:spPr>
            <a:xfrm>
              <a:off x="72644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能力总览</a:t>
              </a:r>
              <a:endParaRPr lang="en-US" sz="2400" dirty="0"/>
            </a:p>
          </p:txBody>
        </p:sp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44382AAF-9371-4E4B-9CC5-917518CA6495}"/>
                </a:ext>
              </a:extLst>
            </p:cNvPr>
            <p:cNvSpPr/>
            <p:nvPr/>
          </p:nvSpPr>
          <p:spPr>
            <a:xfrm>
              <a:off x="7239000" y="2316377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 / 工程 / 训练 / 实验：四层可迁移能力，每层都有证据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zh-CN" altLang="en-US" sz="160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endParaRPr lang="en-US" sz="1600" dirty="0"/>
            </a:p>
          </p:txBody>
        </p:sp>
        <p:cxnSp>
          <p:nvCxnSpPr>
            <p:cNvPr id="41" name="Connector 12">
              <a:extLst>
                <a:ext uri="{FF2B5EF4-FFF2-40B4-BE49-F238E27FC236}">
                  <a16:creationId xmlns:a16="http://schemas.microsoft.com/office/drawing/2014/main" id="{82F0900C-15EF-4E2A-B463-7694CA760DFB}"/>
                </a:ext>
              </a:extLst>
            </p:cNvPr>
            <p:cNvCxnSpPr/>
            <p:nvPr/>
          </p:nvCxnSpPr>
          <p:spPr>
            <a:xfrm rot="-8384">
              <a:off x="6350008" y="27368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C2F73C-46AB-443F-A6B9-CB6FF571FE3C}"/>
              </a:ext>
            </a:extLst>
          </p:cNvPr>
          <p:cNvGrpSpPr/>
          <p:nvPr/>
        </p:nvGrpSpPr>
        <p:grpSpPr>
          <a:xfrm>
            <a:off x="685800" y="3327400"/>
            <a:ext cx="5486400" cy="971550"/>
            <a:chOff x="685800" y="3327400"/>
            <a:chExt cx="5486400" cy="971550"/>
          </a:xfrm>
        </p:grpSpPr>
        <p:sp>
          <p:nvSpPr>
            <p:cNvPr id="42" name="AutoShape 13">
              <a:extLst>
                <a:ext uri="{FF2B5EF4-FFF2-40B4-BE49-F238E27FC236}">
                  <a16:creationId xmlns:a16="http://schemas.microsoft.com/office/drawing/2014/main" id="{D8BDD5FC-7B5C-486A-A500-F89CC3FFB10C}"/>
                </a:ext>
              </a:extLst>
            </p:cNvPr>
            <p:cNvSpPr/>
            <p:nvPr/>
          </p:nvSpPr>
          <p:spPr>
            <a:xfrm>
              <a:off x="685800" y="33274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1100" dirty="0"/>
            </a:p>
          </p:txBody>
        </p:sp>
        <p:sp>
          <p:nvSpPr>
            <p:cNvPr id="43" name="AutoShape 14">
              <a:extLst>
                <a:ext uri="{FF2B5EF4-FFF2-40B4-BE49-F238E27FC236}">
                  <a16:creationId xmlns:a16="http://schemas.microsoft.com/office/drawing/2014/main" id="{B0FFB755-04AB-403A-B3E7-E9213C362714}"/>
                </a:ext>
              </a:extLst>
            </p:cNvPr>
            <p:cNvSpPr/>
            <p:nvPr/>
          </p:nvSpPr>
          <p:spPr>
            <a:xfrm>
              <a:off x="1600200" y="33528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2400" dirty="0"/>
            </a:p>
          </p:txBody>
        </p:sp>
        <p:sp>
          <p:nvSpPr>
            <p:cNvPr id="44" name="AutoShape 15">
              <a:extLst>
                <a:ext uri="{FF2B5EF4-FFF2-40B4-BE49-F238E27FC236}">
                  <a16:creationId xmlns:a16="http://schemas.microsoft.com/office/drawing/2014/main" id="{CD95BADE-6013-4DC0-A4FE-6661BDA44311}"/>
                </a:ext>
              </a:extLst>
            </p:cNvPr>
            <p:cNvSpPr/>
            <p:nvPr/>
          </p:nvSpPr>
          <p:spPr>
            <a:xfrm>
              <a:off x="1600200" y="3850846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 / 训练 / 实验三层，每层都有可复现的证据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endParaRPr lang="en-US" sz="1600" dirty="0"/>
            </a:p>
          </p:txBody>
        </p:sp>
        <p:cxnSp>
          <p:nvCxnSpPr>
            <p:cNvPr id="45" name="Connector 16">
              <a:extLst>
                <a:ext uri="{FF2B5EF4-FFF2-40B4-BE49-F238E27FC236}">
                  <a16:creationId xmlns:a16="http://schemas.microsoft.com/office/drawing/2014/main" id="{C2530D57-B259-4EC0-9904-4AD90E0BD304}"/>
                </a:ext>
              </a:extLst>
            </p:cNvPr>
            <p:cNvCxnSpPr/>
            <p:nvPr/>
          </p:nvCxnSpPr>
          <p:spPr>
            <a:xfrm rot="-8384">
              <a:off x="685808" y="42862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D2FB3CB-FAAB-4FC1-82D8-E6A96DB358D1}"/>
              </a:ext>
            </a:extLst>
          </p:cNvPr>
          <p:cNvGrpSpPr/>
          <p:nvPr/>
        </p:nvGrpSpPr>
        <p:grpSpPr>
          <a:xfrm>
            <a:off x="6350000" y="3327400"/>
            <a:ext cx="5486400" cy="971550"/>
            <a:chOff x="6350000" y="3327400"/>
            <a:chExt cx="5486400" cy="971550"/>
          </a:xfrm>
        </p:grpSpPr>
        <p:sp>
          <p:nvSpPr>
            <p:cNvPr id="46" name="AutoShape 17">
              <a:extLst>
                <a:ext uri="{FF2B5EF4-FFF2-40B4-BE49-F238E27FC236}">
                  <a16:creationId xmlns:a16="http://schemas.microsoft.com/office/drawing/2014/main" id="{8DF13669-6A4C-4464-8233-609FE16403AE}"/>
                </a:ext>
              </a:extLst>
            </p:cNvPr>
            <p:cNvSpPr/>
            <p:nvPr/>
          </p:nvSpPr>
          <p:spPr>
            <a:xfrm>
              <a:off x="6350000" y="33274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1100" dirty="0"/>
            </a:p>
          </p:txBody>
        </p:sp>
        <p:sp>
          <p:nvSpPr>
            <p:cNvPr id="47" name="AutoShape 18">
              <a:extLst>
                <a:ext uri="{FF2B5EF4-FFF2-40B4-BE49-F238E27FC236}">
                  <a16:creationId xmlns:a16="http://schemas.microsoft.com/office/drawing/2014/main" id="{A6815442-1CEC-46F5-B114-D80B1E548313}"/>
                </a:ext>
              </a:extLst>
            </p:cNvPr>
            <p:cNvSpPr/>
            <p:nvPr/>
          </p:nvSpPr>
          <p:spPr>
            <a:xfrm>
              <a:off x="7264400" y="33528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2400" dirty="0"/>
            </a:p>
          </p:txBody>
        </p:sp>
        <p:sp>
          <p:nvSpPr>
            <p:cNvPr id="48" name="AutoShape 19">
              <a:extLst>
                <a:ext uri="{FF2B5EF4-FFF2-40B4-BE49-F238E27FC236}">
                  <a16:creationId xmlns:a16="http://schemas.microsoft.com/office/drawing/2014/main" id="{A5443D58-6218-452D-8D14-3231BC2B2038}"/>
                </a:ext>
              </a:extLst>
            </p:cNvPr>
            <p:cNvSpPr/>
            <p:nvPr/>
          </p:nvSpPr>
          <p:spPr>
            <a:xfrm>
              <a:off x="7264400" y="3850846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两阶段架构、信任层、全栈工程与双口径硬指标</a:t>
              </a:r>
              <a:endParaRPr lang="en-US" sz="1600" dirty="0"/>
            </a:p>
          </p:txBody>
        </p:sp>
        <p:cxnSp>
          <p:nvCxnSpPr>
            <p:cNvPr id="49" name="Connector 20">
              <a:extLst>
                <a:ext uri="{FF2B5EF4-FFF2-40B4-BE49-F238E27FC236}">
                  <a16:creationId xmlns:a16="http://schemas.microsoft.com/office/drawing/2014/main" id="{87B1E437-04C4-4C41-A3AC-D78542A74AAE}"/>
                </a:ext>
              </a:extLst>
            </p:cNvPr>
            <p:cNvCxnSpPr/>
            <p:nvPr/>
          </p:nvCxnSpPr>
          <p:spPr>
            <a:xfrm rot="-8384">
              <a:off x="6350008" y="42862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6CF8B7A-13DB-482D-A700-F000911909F4}"/>
              </a:ext>
            </a:extLst>
          </p:cNvPr>
          <p:cNvGrpSpPr/>
          <p:nvPr/>
        </p:nvGrpSpPr>
        <p:grpSpPr>
          <a:xfrm>
            <a:off x="685800" y="4876800"/>
            <a:ext cx="5486400" cy="971550"/>
            <a:chOff x="685800" y="4876800"/>
            <a:chExt cx="5486400" cy="971550"/>
          </a:xfrm>
        </p:grpSpPr>
        <p:sp>
          <p:nvSpPr>
            <p:cNvPr id="50" name="AutoShape 21">
              <a:extLst>
                <a:ext uri="{FF2B5EF4-FFF2-40B4-BE49-F238E27FC236}">
                  <a16:creationId xmlns:a16="http://schemas.microsoft.com/office/drawing/2014/main" id="{35019CB5-D3D7-42A2-B771-86C6B9FF1401}"/>
                </a:ext>
              </a:extLst>
            </p:cNvPr>
            <p:cNvSpPr/>
            <p:nvPr/>
          </p:nvSpPr>
          <p:spPr>
            <a:xfrm>
              <a:off x="685800" y="48768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lang="en-US" sz="1100" dirty="0"/>
            </a:p>
          </p:txBody>
        </p:sp>
        <p:sp>
          <p:nvSpPr>
            <p:cNvPr id="51" name="AutoShape 22">
              <a:extLst>
                <a:ext uri="{FF2B5EF4-FFF2-40B4-BE49-F238E27FC236}">
                  <a16:creationId xmlns:a16="http://schemas.microsoft.com/office/drawing/2014/main" id="{04E4E828-88CF-4328-BB81-9C769E72157E}"/>
                </a:ext>
              </a:extLst>
            </p:cNvPr>
            <p:cNvSpPr/>
            <p:nvPr/>
          </p:nvSpPr>
          <p:spPr>
            <a:xfrm>
              <a:off x="1600200" y="4920049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2400" dirty="0"/>
            </a:p>
          </p:txBody>
        </p:sp>
        <p:sp>
          <p:nvSpPr>
            <p:cNvPr id="52" name="AutoShape 23">
              <a:extLst>
                <a:ext uri="{FF2B5EF4-FFF2-40B4-BE49-F238E27FC236}">
                  <a16:creationId xmlns:a16="http://schemas.microsoft.com/office/drawing/2014/main" id="{7DDBF8F9-213B-4D9C-90A0-A5680C136E48}"/>
                </a:ext>
              </a:extLst>
            </p:cNvPr>
            <p:cNvSpPr/>
            <p:nvPr/>
          </p:nvSpPr>
          <p:spPr>
            <a:xfrm>
              <a:off x="1600200" y="5410200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产品界面实拍与系统演示视频</a:t>
              </a:r>
              <a:endParaRPr lang="en-US" sz="1600" dirty="0"/>
            </a:p>
          </p:txBody>
        </p:sp>
        <p:cxnSp>
          <p:nvCxnSpPr>
            <p:cNvPr id="53" name="Connector 24">
              <a:extLst>
                <a:ext uri="{FF2B5EF4-FFF2-40B4-BE49-F238E27FC236}">
                  <a16:creationId xmlns:a16="http://schemas.microsoft.com/office/drawing/2014/main" id="{3B045F53-46BA-4275-A01C-5578F50628B2}"/>
                </a:ext>
              </a:extLst>
            </p:cNvPr>
            <p:cNvCxnSpPr/>
            <p:nvPr/>
          </p:nvCxnSpPr>
          <p:spPr>
            <a:xfrm rot="-8384">
              <a:off x="685808" y="58356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5280895-C48E-4CB6-8D52-FF9D02EC58F9}"/>
              </a:ext>
            </a:extLst>
          </p:cNvPr>
          <p:cNvGrpSpPr/>
          <p:nvPr/>
        </p:nvGrpSpPr>
        <p:grpSpPr>
          <a:xfrm>
            <a:off x="6350000" y="4876800"/>
            <a:ext cx="5486400" cy="971550"/>
            <a:chOff x="6350000" y="4876800"/>
            <a:chExt cx="5486400" cy="971550"/>
          </a:xfrm>
        </p:grpSpPr>
        <p:sp>
          <p:nvSpPr>
            <p:cNvPr id="54" name="AutoShape 25">
              <a:extLst>
                <a:ext uri="{FF2B5EF4-FFF2-40B4-BE49-F238E27FC236}">
                  <a16:creationId xmlns:a16="http://schemas.microsoft.com/office/drawing/2014/main" id="{D229034F-E8C8-46E4-90D2-80D5B1BB0CF7}"/>
                </a:ext>
              </a:extLst>
            </p:cNvPr>
            <p:cNvSpPr/>
            <p:nvPr/>
          </p:nvSpPr>
          <p:spPr>
            <a:xfrm>
              <a:off x="6350000" y="48768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lang="en-US" sz="1100" dirty="0"/>
            </a:p>
          </p:txBody>
        </p:sp>
        <p:sp>
          <p:nvSpPr>
            <p:cNvPr id="55" name="AutoShape 26">
              <a:extLst>
                <a:ext uri="{FF2B5EF4-FFF2-40B4-BE49-F238E27FC236}">
                  <a16:creationId xmlns:a16="http://schemas.microsoft.com/office/drawing/2014/main" id="{F088755C-B51D-4129-945D-BED54B756352}"/>
                </a:ext>
              </a:extLst>
            </p:cNvPr>
            <p:cNvSpPr/>
            <p:nvPr/>
          </p:nvSpPr>
          <p:spPr>
            <a:xfrm>
              <a:off x="7264400" y="49022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工程实现</a:t>
              </a:r>
              <a:endParaRPr lang="en-US" sz="2400" dirty="0"/>
            </a:p>
          </p:txBody>
        </p:sp>
        <p:sp>
          <p:nvSpPr>
            <p:cNvPr id="56" name="AutoShape 27">
              <a:extLst>
                <a:ext uri="{FF2B5EF4-FFF2-40B4-BE49-F238E27FC236}">
                  <a16:creationId xmlns:a16="http://schemas.microsoft.com/office/drawing/2014/main" id="{68FB7B8E-940A-4179-A67E-DF46D032E08E}"/>
                </a:ext>
              </a:extLst>
            </p:cNvPr>
            <p:cNvSpPr/>
            <p:nvPr/>
          </p:nvSpPr>
          <p:spPr>
            <a:xfrm>
              <a:off x="7264400" y="5415520"/>
              <a:ext cx="457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全栈交付 · 跨平台 · 自研工具链 · 成本治理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endParaRPr lang="en-US" sz="1600" dirty="0"/>
            </a:p>
          </p:txBody>
        </p:sp>
        <p:cxnSp>
          <p:nvCxnSpPr>
            <p:cNvPr id="57" name="Connector 28">
              <a:extLst>
                <a:ext uri="{FF2B5EF4-FFF2-40B4-BE49-F238E27FC236}">
                  <a16:creationId xmlns:a16="http://schemas.microsoft.com/office/drawing/2014/main" id="{4903E880-E416-4F44-A5C7-40B20B776E6E}"/>
                </a:ext>
              </a:extLst>
            </p:cNvPr>
            <p:cNvCxnSpPr/>
            <p:nvPr/>
          </p:nvCxnSpPr>
          <p:spPr>
            <a:xfrm rot="-8384">
              <a:off x="6350008" y="5835650"/>
              <a:ext cx="5207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" name="AutoShape 29">
            <a:extLst>
              <a:ext uri="{FF2B5EF4-FFF2-40B4-BE49-F238E27FC236}">
                <a16:creationId xmlns:a16="http://schemas.microsoft.com/office/drawing/2014/main" id="{F950EC67-F9A5-43B4-A10E-4454D34E1080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9" name="AutoShape 30">
            <a:extLst>
              <a:ext uri="{FF2B5EF4-FFF2-40B4-BE49-F238E27FC236}">
                <a16:creationId xmlns:a16="http://schemas.microsoft.com/office/drawing/2014/main" id="{C881AE35-AB70-453B-BCDF-97BEA229792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02 / 19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2">
            <a:extLst>
              <a:ext uri="{FF2B5EF4-FFF2-40B4-BE49-F238E27FC236}">
                <a16:creationId xmlns:a16="http://schemas.microsoft.com/office/drawing/2014/main" id="{79E4A086-3F41-4415-AF7E-6E8199CECAB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">
            <a:extLst>
              <a:ext uri="{FF2B5EF4-FFF2-40B4-BE49-F238E27FC236}">
                <a16:creationId xmlns:a16="http://schemas.microsoft.com/office/drawing/2014/main" id="{F331C2D1-C3D2-49DE-924A-ED38C181EA12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 err="1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</a:t>
            </a:r>
            <a:r>
              <a:rPr lang="en-US" sz="1000" b="0" i="0" u="none" strike="noStrike" dirty="0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 · CODE SECURITY</a:t>
            </a:r>
            <a:endParaRPr lang="en-US" sz="1100" dirty="0"/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9BCBF3BA-88CC-4C7D-8142-3721E3353157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 dirty="0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49D06C-39D4-4147-8219-BAA9AC48B254}"/>
              </a:ext>
            </a:extLst>
          </p:cNvPr>
          <p:cNvGrpSpPr/>
          <p:nvPr/>
        </p:nvGrpSpPr>
        <p:grpSpPr>
          <a:xfrm>
            <a:off x="3810000" y="2641600"/>
            <a:ext cx="7442200" cy="977900"/>
            <a:chOff x="3810000" y="2641600"/>
            <a:chExt cx="7442200" cy="977900"/>
          </a:xfrm>
        </p:grpSpPr>
        <p:sp>
          <p:nvSpPr>
            <p:cNvPr id="33" name="AutoShape 5">
              <a:extLst>
                <a:ext uri="{FF2B5EF4-FFF2-40B4-BE49-F238E27FC236}">
                  <a16:creationId xmlns:a16="http://schemas.microsoft.com/office/drawing/2014/main" id="{61FFFBED-B5FD-40E6-B679-B330E8C36153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4" name="AutoShape 6">
              <a:extLst>
                <a:ext uri="{FF2B5EF4-FFF2-40B4-BE49-F238E27FC236}">
                  <a16:creationId xmlns:a16="http://schemas.microsoft.com/office/drawing/2014/main" id="{71AB221D-DF9A-40D5-8500-822FA9FD1F28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4400" dirty="0"/>
            </a:p>
          </p:txBody>
        </p:sp>
        <p:sp>
          <p:nvSpPr>
            <p:cNvPr id="35" name="AutoShape 7">
              <a:extLst>
                <a:ext uri="{FF2B5EF4-FFF2-40B4-BE49-F238E27FC236}">
                  <a16:creationId xmlns:a16="http://schemas.microsoft.com/office/drawing/2014/main" id="{C6BF624D-40BD-423D-99DE-28DB16B23FDA}"/>
                </a:ext>
              </a:extLst>
            </p:cNvPr>
            <p:cNvSpPr/>
            <p:nvPr/>
          </p:nvSpPr>
          <p:spPr>
            <a:xfrm>
              <a:off x="4140200" y="33655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 · WHY THIS PROJECT MATTERS</a:t>
              </a:r>
              <a:endParaRPr lang="en-US" sz="1100" dirty="0"/>
            </a:p>
          </p:txBody>
        </p:sp>
      </p:grpSp>
      <p:sp>
        <p:nvSpPr>
          <p:cNvPr id="36" name="AutoShape 8">
            <a:extLst>
              <a:ext uri="{FF2B5EF4-FFF2-40B4-BE49-F238E27FC236}">
                <a16:creationId xmlns:a16="http://schemas.microsoft.com/office/drawing/2014/main" id="{F5E99A10-CB9E-4DB5-8A2C-F99291A304CA}"/>
              </a:ext>
            </a:extLst>
          </p:cNvPr>
          <p:cNvSpPr/>
          <p:nvPr/>
        </p:nvSpPr>
        <p:spPr>
          <a:xfrm>
            <a:off x="4140200" y="37084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年披露漏洞逼近 5 万，而现有工具在真实 CVE 上语焉不详——这就是我们的出发点。</a:t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2000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3D6ADC3-5FAC-44C0-A0D6-3A6B46A52D4B}"/>
              </a:ext>
            </a:extLst>
          </p:cNvPr>
          <p:cNvGrpSpPr/>
          <p:nvPr/>
        </p:nvGrpSpPr>
        <p:grpSpPr>
          <a:xfrm>
            <a:off x="4140200" y="4902200"/>
            <a:ext cx="1092200" cy="330200"/>
            <a:chOff x="4140200" y="4902200"/>
            <a:chExt cx="1092200" cy="330200"/>
          </a:xfrm>
        </p:grpSpPr>
        <p:sp>
          <p:nvSpPr>
            <p:cNvPr id="38" name="AutoShape 9">
              <a:extLst>
                <a:ext uri="{FF2B5EF4-FFF2-40B4-BE49-F238E27FC236}">
                  <a16:creationId xmlns:a16="http://schemas.microsoft.com/office/drawing/2014/main" id="{E10356F5-7678-4D41-A858-69AF47CEC4FB}"/>
                </a:ext>
              </a:extLst>
            </p:cNvPr>
            <p:cNvSpPr/>
            <p:nvPr/>
          </p:nvSpPr>
          <p:spPr>
            <a:xfrm>
              <a:off x="41402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22F4FF3F-C8A7-46C7-BB24-E3722F47258A}"/>
                </a:ext>
              </a:extLst>
            </p:cNvPr>
            <p:cNvSpPr/>
            <p:nvPr/>
          </p:nvSpPr>
          <p:spPr>
            <a:xfrm>
              <a:off x="41402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研究背景</a:t>
              </a:r>
              <a:endParaRPr lang="en-US" sz="11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8C2F348-9B3A-4686-B907-07E5B0B2EC94}"/>
              </a:ext>
            </a:extLst>
          </p:cNvPr>
          <p:cNvGrpSpPr/>
          <p:nvPr/>
        </p:nvGrpSpPr>
        <p:grpSpPr>
          <a:xfrm>
            <a:off x="5257800" y="4902200"/>
            <a:ext cx="5562600" cy="330200"/>
            <a:chOff x="5257800" y="4902200"/>
            <a:chExt cx="5562600" cy="330200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15F217D-B641-4810-8049-C972BF4A3AF8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41" name="AutoShape 11">
                <a:extLst>
                  <a:ext uri="{FF2B5EF4-FFF2-40B4-BE49-F238E27FC236}">
                    <a16:creationId xmlns:a16="http://schemas.microsoft.com/office/drawing/2014/main" id="{005A0CFB-050C-48B2-9767-F0ABF58A9E85}"/>
                  </a:ext>
                </a:extLst>
              </p:cNvPr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2" name="AutoShape 12">
                <a:extLst>
                  <a:ext uri="{FF2B5EF4-FFF2-40B4-BE49-F238E27FC236}">
                    <a16:creationId xmlns:a16="http://schemas.microsoft.com/office/drawing/2014/main" id="{2DA7B1FA-52B7-4B95-9075-0D2BD3D273F6}"/>
                  </a:ext>
                </a:extLst>
              </p:cNvPr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能力总览</a:t>
                </a:r>
                <a:endParaRPr lang="en-US" sz="1100" dirty="0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C6EE2C2-C6B5-40A6-96B6-252A92B61C04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44" name="AutoShape 13">
                <a:extLst>
                  <a:ext uri="{FF2B5EF4-FFF2-40B4-BE49-F238E27FC236}">
                    <a16:creationId xmlns:a16="http://schemas.microsoft.com/office/drawing/2014/main" id="{6D47B0A8-37D5-41EE-B177-E28D00EE2D9E}"/>
                  </a:ext>
                </a:extLst>
              </p:cNvPr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5" name="AutoShape 14">
                <a:extLst>
                  <a:ext uri="{FF2B5EF4-FFF2-40B4-BE49-F238E27FC236}">
                    <a16:creationId xmlns:a16="http://schemas.microsoft.com/office/drawing/2014/main" id="{021EA5EE-2BAF-4ACF-9AC8-E55824AA11DC}"/>
                  </a:ext>
                </a:extLst>
              </p:cNvPr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我们的价值</a:t>
                </a:r>
                <a:endParaRPr lang="en-US" sz="1100" dirty="0"/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7128F2E-2B7A-4132-AEB1-31DAC31D193B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47" name="AutoShape 15">
                <a:extLst>
                  <a:ext uri="{FF2B5EF4-FFF2-40B4-BE49-F238E27FC236}">
                    <a16:creationId xmlns:a16="http://schemas.microsoft.com/office/drawing/2014/main" id="{3A3992A4-B1F5-4000-AC4D-442EE573B640}"/>
                  </a:ext>
                </a:extLst>
              </p:cNvPr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8" name="AutoShape 16">
                <a:extLst>
                  <a:ext uri="{FF2B5EF4-FFF2-40B4-BE49-F238E27FC236}">
                    <a16:creationId xmlns:a16="http://schemas.microsoft.com/office/drawing/2014/main" id="{F2017695-8ECB-4929-BDEF-8E4CA9060551}"/>
                  </a:ext>
                </a:extLst>
              </p:cNvPr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5785CA68-77DF-4045-B5DC-5DCDAF84D926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50" name="AutoShape 17">
                <a:extLst>
                  <a:ext uri="{FF2B5EF4-FFF2-40B4-BE49-F238E27FC236}">
                    <a16:creationId xmlns:a16="http://schemas.microsoft.com/office/drawing/2014/main" id="{8CD6FFFA-66F4-40D9-A7A1-6438ED6B9425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1" name="AutoShape 18">
                <a:extLst>
                  <a:ext uri="{FF2B5EF4-FFF2-40B4-BE49-F238E27FC236}">
                    <a16:creationId xmlns:a16="http://schemas.microsoft.com/office/drawing/2014/main" id="{1A46C440-D994-4DB8-B838-3905659C68E2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50D0BF8C-8F6E-429A-88A1-E54482C4A30B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3" name="AutoShape 19">
                <a:extLst>
                  <a:ext uri="{FF2B5EF4-FFF2-40B4-BE49-F238E27FC236}">
                    <a16:creationId xmlns:a16="http://schemas.microsoft.com/office/drawing/2014/main" id="{2471AE2C-3CF3-4E80-8BE9-043CC758DBBA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4" name="AutoShape 20">
                <a:extLst>
                  <a:ext uri="{FF2B5EF4-FFF2-40B4-BE49-F238E27FC236}">
                    <a16:creationId xmlns:a16="http://schemas.microsoft.com/office/drawing/2014/main" id="{093869A8-CE70-4855-AEA0-AD54F77E63C3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工程实现</a:t>
                </a:r>
                <a:endParaRPr lang="en-US" sz="1100" dirty="0"/>
              </a:p>
            </p:txBody>
          </p:sp>
        </p:grpSp>
      </p:grpSp>
      <p:sp>
        <p:nvSpPr>
          <p:cNvPr id="55" name="AutoShape 21">
            <a:extLst>
              <a:ext uri="{FF2B5EF4-FFF2-40B4-BE49-F238E27FC236}">
                <a16:creationId xmlns:a16="http://schemas.microsoft.com/office/drawing/2014/main" id="{40769632-2B8A-44D8-9237-D2680913A988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6" name="AutoShape 22">
            <a:extLst>
              <a:ext uri="{FF2B5EF4-FFF2-40B4-BE49-F238E27FC236}">
                <a16:creationId xmlns:a16="http://schemas.microsoft.com/office/drawing/2014/main" id="{EBBD7680-4E96-4EF3-846E-348CDDFB0BB6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03 / 19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">
            <a:extLst>
              <a:ext uri="{FF2B5EF4-FFF2-40B4-BE49-F238E27FC236}">
                <a16:creationId xmlns:a16="http://schemas.microsoft.com/office/drawing/2014/main" id="{D1831369-E586-4680-8E12-40206ED62689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C75A035-F065-4630-89DB-392D33311F5C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十年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7.4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倍：漏洞披露量进入高速增长区间</a:t>
            </a:r>
            <a:endParaRPr lang="en-US" sz="2800" dirty="0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DB596BFC-D6BB-4366-BC53-26BB549D6058}"/>
              </a:ext>
            </a:extLst>
          </p:cNvPr>
          <p:cNvSpPr/>
          <p:nvPr/>
        </p:nvSpPr>
        <p:spPr>
          <a:xfrm>
            <a:off x="333633" y="101860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0B50C4CE-6368-4582-94A8-A415C9A6F3DF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6">
            <a:extLst>
              <a:ext uri="{FF2B5EF4-FFF2-40B4-BE49-F238E27FC236}">
                <a16:creationId xmlns:a16="http://schemas.microsoft.com/office/drawing/2014/main" id="{85646CE7-12B7-4F5E-8138-DA2436862115}"/>
              </a:ext>
            </a:extLst>
          </p:cNvPr>
          <p:cNvSpPr/>
          <p:nvPr/>
        </p:nvSpPr>
        <p:spPr>
          <a:xfrm>
            <a:off x="562233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 dirty="0"/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0819D8A6-C20D-4CDD-9CF3-2BE6FC65A200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04 / 19</a:t>
            </a:r>
            <a:endParaRPr lang="en-US" sz="1100"/>
          </a:p>
        </p:txBody>
      </p:sp>
      <p:graphicFrame>
        <p:nvGraphicFramePr>
          <p:cNvPr id="32" name="Chart 8">
            <a:extLst>
              <a:ext uri="{FF2B5EF4-FFF2-40B4-BE49-F238E27FC236}">
                <a16:creationId xmlns:a16="http://schemas.microsoft.com/office/drawing/2014/main" id="{0A292B8C-D9EA-4790-AE50-7223B9E40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80194"/>
              </p:ext>
            </p:extLst>
          </p:nvPr>
        </p:nvGraphicFramePr>
        <p:xfrm>
          <a:off x="140043" y="1066515"/>
          <a:ext cx="7582243" cy="5223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AutoShape 8">
            <a:extLst>
              <a:ext uri="{FF2B5EF4-FFF2-40B4-BE49-F238E27FC236}">
                <a16:creationId xmlns:a16="http://schemas.microsoft.com/office/drawing/2014/main" id="{04E8FC25-278D-47BD-9633-067C03B5957C}"/>
              </a:ext>
            </a:extLst>
          </p:cNvPr>
          <p:cNvSpPr/>
          <p:nvPr/>
        </p:nvSpPr>
        <p:spPr>
          <a:xfrm>
            <a:off x="7892049" y="881724"/>
            <a:ext cx="3688290" cy="238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KEY FINDING · </a:t>
            </a:r>
            <a:r>
              <a:rPr lang="en-US" sz="24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关键判断</a:t>
            </a:r>
            <a:endParaRPr lang="en-US" sz="2400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C574089-07C5-4E94-A2BB-19E0D11EA945}"/>
              </a:ext>
            </a:extLst>
          </p:cNvPr>
          <p:cNvGrpSpPr/>
          <p:nvPr/>
        </p:nvGrpSpPr>
        <p:grpSpPr>
          <a:xfrm>
            <a:off x="8055233" y="1324974"/>
            <a:ext cx="3378200" cy="1092941"/>
            <a:chOff x="8055233" y="1324974"/>
            <a:chExt cx="3378200" cy="1092941"/>
          </a:xfrm>
        </p:grpSpPr>
        <p:sp>
          <p:nvSpPr>
            <p:cNvPr id="35" name="AutoShape 9">
              <a:extLst>
                <a:ext uri="{FF2B5EF4-FFF2-40B4-BE49-F238E27FC236}">
                  <a16:creationId xmlns:a16="http://schemas.microsoft.com/office/drawing/2014/main" id="{2ACAEFA7-0676-41F0-B992-C244FF6E366A}"/>
                </a:ext>
              </a:extLst>
            </p:cNvPr>
            <p:cNvSpPr/>
            <p:nvPr/>
          </p:nvSpPr>
          <p:spPr>
            <a:xfrm>
              <a:off x="8055233" y="1324974"/>
              <a:ext cx="3302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52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7.4×</a:t>
              </a:r>
              <a:endParaRPr lang="en-US" sz="1100" dirty="0"/>
            </a:p>
          </p:txBody>
        </p:sp>
        <p:sp>
          <p:nvSpPr>
            <p:cNvPr id="36" name="AutoShape 10">
              <a:extLst>
                <a:ext uri="{FF2B5EF4-FFF2-40B4-BE49-F238E27FC236}">
                  <a16:creationId xmlns:a16="http://schemas.microsoft.com/office/drawing/2014/main" id="{71435381-BC45-4A7D-8269-657584A4BA84}"/>
                </a:ext>
              </a:extLst>
            </p:cNvPr>
            <p:cNvSpPr/>
            <p:nvPr/>
          </p:nvSpPr>
          <p:spPr>
            <a:xfrm>
              <a:off x="8055233" y="2189315"/>
              <a:ext cx="3378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2015 → 2025，年新增 CVE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增长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7.4 倍</a:t>
              </a:r>
              <a:endParaRPr lang="en-US" sz="1800" dirty="0"/>
            </a:p>
          </p:txBody>
        </p:sp>
      </p:grpSp>
      <p:cxnSp>
        <p:nvCxnSpPr>
          <p:cNvPr id="37" name="Connector 11">
            <a:extLst>
              <a:ext uri="{FF2B5EF4-FFF2-40B4-BE49-F238E27FC236}">
                <a16:creationId xmlns:a16="http://schemas.microsoft.com/office/drawing/2014/main" id="{237CFD5C-13D2-4831-983F-CCB8BAFAC1CF}"/>
              </a:ext>
            </a:extLst>
          </p:cNvPr>
          <p:cNvCxnSpPr/>
          <p:nvPr/>
        </p:nvCxnSpPr>
        <p:spPr>
          <a:xfrm>
            <a:off x="8025430" y="2827528"/>
            <a:ext cx="3468292" cy="768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21">
            <a:extLst>
              <a:ext uri="{FF2B5EF4-FFF2-40B4-BE49-F238E27FC236}">
                <a16:creationId xmlns:a16="http://schemas.microsoft.com/office/drawing/2014/main" id="{2B94720B-BF76-49F6-A7EF-54717C87EE86}"/>
              </a:ext>
            </a:extLst>
          </p:cNvPr>
          <p:cNvSpPr/>
          <p:nvPr/>
        </p:nvSpPr>
        <p:spPr>
          <a:xfrm>
            <a:off x="562233" y="6332728"/>
            <a:ext cx="762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数据来源：NIST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National Vulnerability Database（2026-08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检索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仅统计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Published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条目，不含预留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拒绝记录</a:t>
            </a:r>
            <a:endParaRPr lang="en-US" sz="11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C0132F-A1CC-49D6-8FD9-B33F9EDE367C}"/>
              </a:ext>
            </a:extLst>
          </p:cNvPr>
          <p:cNvGrpSpPr/>
          <p:nvPr/>
        </p:nvGrpSpPr>
        <p:grpSpPr>
          <a:xfrm>
            <a:off x="7892048" y="2951629"/>
            <a:ext cx="3732631" cy="3223928"/>
            <a:chOff x="7892048" y="2858282"/>
            <a:chExt cx="3732631" cy="3317275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1E92EAF-B97E-45D1-981A-203663D3CFFE}"/>
                </a:ext>
              </a:extLst>
            </p:cNvPr>
            <p:cNvGrpSpPr/>
            <p:nvPr/>
          </p:nvGrpSpPr>
          <p:grpSpPr>
            <a:xfrm>
              <a:off x="7896772" y="2858282"/>
              <a:ext cx="3727907" cy="3317275"/>
              <a:chOff x="8101530" y="2858282"/>
              <a:chExt cx="3520801" cy="3317275"/>
            </a:xfrm>
          </p:grpSpPr>
          <p:sp>
            <p:nvSpPr>
              <p:cNvPr id="39" name="AutoShape 12">
                <a:extLst>
                  <a:ext uri="{FF2B5EF4-FFF2-40B4-BE49-F238E27FC236}">
                    <a16:creationId xmlns:a16="http://schemas.microsoft.com/office/drawing/2014/main" id="{C5E3CFDE-B156-4333-B23B-A21C06DA0D1C}"/>
                  </a:ext>
                </a:extLst>
              </p:cNvPr>
              <p:cNvSpPr/>
              <p:nvPr/>
            </p:nvSpPr>
            <p:spPr>
              <a:xfrm>
                <a:off x="8101530" y="3011678"/>
                <a:ext cx="113729" cy="115096"/>
              </a:xfrm>
              <a:prstGeom prst="roundRect">
                <a:avLst>
                  <a:gd name="adj" fmla="val 0"/>
                </a:avLst>
              </a:prstGeom>
              <a:solidFill>
                <a:srgbClr val="D9962E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289FEFD-1CF8-4D6D-A97F-E6CE3ED956C8}"/>
                  </a:ext>
                </a:extLst>
              </p:cNvPr>
              <p:cNvGrpSpPr/>
              <p:nvPr/>
            </p:nvGrpSpPr>
            <p:grpSpPr>
              <a:xfrm>
                <a:off x="8259232" y="2858282"/>
                <a:ext cx="3363099" cy="3317275"/>
                <a:chOff x="8259232" y="2858282"/>
                <a:chExt cx="3363099" cy="3317275"/>
              </a:xfrm>
            </p:grpSpPr>
            <p:sp>
              <p:nvSpPr>
                <p:cNvPr id="41" name="AutoShape 13">
                  <a:extLst>
                    <a:ext uri="{FF2B5EF4-FFF2-40B4-BE49-F238E27FC236}">
                      <a16:creationId xmlns:a16="http://schemas.microsoft.com/office/drawing/2014/main" id="{12EA8D13-D63B-414E-ACC1-E3126EDE2EAB}"/>
                    </a:ext>
                  </a:extLst>
                </p:cNvPr>
                <p:cNvSpPr/>
                <p:nvPr/>
              </p:nvSpPr>
              <p:spPr>
                <a:xfrm>
                  <a:off x="8371131" y="2858282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48,185 条</a:t>
                  </a:r>
                  <a:endParaRPr lang="en-US" sz="2400" dirty="0"/>
                </a:p>
              </p:txBody>
            </p:sp>
            <p:sp>
              <p:nvSpPr>
                <p:cNvPr id="42" name="AutoShape 14">
                  <a:extLst>
                    <a:ext uri="{FF2B5EF4-FFF2-40B4-BE49-F238E27FC236}">
                      <a16:creationId xmlns:a16="http://schemas.microsoft.com/office/drawing/2014/main" id="{058F6F7D-9F3D-469F-A252-A274B6C87BC8}"/>
                    </a:ext>
                  </a:extLst>
                </p:cNvPr>
                <p:cNvSpPr/>
                <p:nvPr/>
              </p:nvSpPr>
              <p:spPr>
                <a:xfrm>
                  <a:off x="8259232" y="3258641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2025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年新增</a:t>
                  </a: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CVE，连续两年站上</a:t>
                  </a: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 4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万量级</a:t>
                  </a:r>
                  <a:endParaRPr lang="en-US" sz="2000" dirty="0"/>
                </a:p>
              </p:txBody>
            </p:sp>
            <p:sp>
              <p:nvSpPr>
                <p:cNvPr id="43" name="AutoShape 16">
                  <a:extLst>
                    <a:ext uri="{FF2B5EF4-FFF2-40B4-BE49-F238E27FC236}">
                      <a16:creationId xmlns:a16="http://schemas.microsoft.com/office/drawing/2014/main" id="{A93A2675-2222-44EA-9576-2B4971141F4B}"/>
                    </a:ext>
                  </a:extLst>
                </p:cNvPr>
                <p:cNvSpPr/>
                <p:nvPr/>
              </p:nvSpPr>
              <p:spPr>
                <a:xfrm>
                  <a:off x="8371130" y="4019893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≈132 条/天</a:t>
                  </a:r>
                  <a:endParaRPr lang="en-US" sz="2400" dirty="0"/>
                </a:p>
              </p:txBody>
            </p:sp>
            <p:sp>
              <p:nvSpPr>
                <p:cNvPr id="44" name="AutoShape 17">
                  <a:extLst>
                    <a:ext uri="{FF2B5EF4-FFF2-40B4-BE49-F238E27FC236}">
                      <a16:creationId xmlns:a16="http://schemas.microsoft.com/office/drawing/2014/main" id="{0471B77A-A226-42E6-9342-CA4FA5DBE07A}"/>
                    </a:ext>
                  </a:extLst>
                </p:cNvPr>
                <p:cNvSpPr/>
                <p:nvPr/>
              </p:nvSpPr>
              <p:spPr>
                <a:xfrm>
                  <a:off x="8259232" y="4471738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平均每自然日新增逾百条，人工审计产能无法同步扩张</a:t>
                  </a:r>
                  <a:endParaRPr lang="en-US" sz="2000" dirty="0"/>
                </a:p>
              </p:txBody>
            </p:sp>
            <p:sp>
              <p:nvSpPr>
                <p:cNvPr id="45" name="AutoShape 19">
                  <a:extLst>
                    <a:ext uri="{FF2B5EF4-FFF2-40B4-BE49-F238E27FC236}">
                      <a16:creationId xmlns:a16="http://schemas.microsoft.com/office/drawing/2014/main" id="{02026AF6-65D3-4ADF-A3E4-6F2609E7CAC2}"/>
                    </a:ext>
                  </a:extLst>
                </p:cNvPr>
                <p:cNvSpPr/>
                <p:nvPr/>
              </p:nvSpPr>
              <p:spPr>
                <a:xfrm>
                  <a:off x="8371130" y="5260581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 err="1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语义化趋势</a:t>
                  </a:r>
                  <a:endParaRPr lang="en-US" sz="2400" dirty="0"/>
                </a:p>
              </p:txBody>
            </p:sp>
            <p:sp>
              <p:nvSpPr>
                <p:cNvPr id="46" name="AutoShape 20">
                  <a:extLst>
                    <a:ext uri="{FF2B5EF4-FFF2-40B4-BE49-F238E27FC236}">
                      <a16:creationId xmlns:a16="http://schemas.microsoft.com/office/drawing/2014/main" id="{00BFF0B2-1829-4E53-A9CA-EA17A230E8E8}"/>
                    </a:ext>
                  </a:extLst>
                </p:cNvPr>
                <p:cNvSpPr/>
                <p:nvPr/>
              </p:nvSpPr>
              <p:spPr>
                <a:xfrm>
                  <a:off x="8301567" y="5736645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业务逻辑与组合缺陷占比上升，正则规则越来越难覆盖</a:t>
                  </a:r>
                  <a:endParaRPr lang="en-US" sz="2000" dirty="0"/>
                </a:p>
              </p:txBody>
            </p:sp>
          </p:grpSp>
        </p:grpSp>
        <p:sp>
          <p:nvSpPr>
            <p:cNvPr id="48" name="AutoShape 12">
              <a:extLst>
                <a:ext uri="{FF2B5EF4-FFF2-40B4-BE49-F238E27FC236}">
                  <a16:creationId xmlns:a16="http://schemas.microsoft.com/office/drawing/2014/main" id="{BDEF1941-7ECA-4D3F-BDDC-CFD6A3E06608}"/>
                </a:ext>
              </a:extLst>
            </p:cNvPr>
            <p:cNvSpPr/>
            <p:nvPr/>
          </p:nvSpPr>
          <p:spPr>
            <a:xfrm>
              <a:off x="7892048" y="4142274"/>
              <a:ext cx="120419" cy="115096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12">
              <a:extLst>
                <a:ext uri="{FF2B5EF4-FFF2-40B4-BE49-F238E27FC236}">
                  <a16:creationId xmlns:a16="http://schemas.microsoft.com/office/drawing/2014/main" id="{68AEE625-5BC8-49FB-9496-CB09707C4142}"/>
                </a:ext>
              </a:extLst>
            </p:cNvPr>
            <p:cNvSpPr/>
            <p:nvPr/>
          </p:nvSpPr>
          <p:spPr>
            <a:xfrm>
              <a:off x="7892049" y="5387581"/>
              <a:ext cx="120419" cy="115096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2" grpId="0">
        <p:bldAsOne/>
      </p:bldGraphic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D62BD01B-9BDD-422A-B7DA-F452D894B60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2000" dirty="0"/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1D4AAB97-EF64-4A2D-A2AA-DEF146710221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双口径四路线实测：单靠工具或单靠模型，都不够</a:t>
            </a:r>
            <a:endParaRPr lang="en-US" sz="2800" dirty="0"/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75D5B966-3DDF-40E6-A017-765217B617EF}"/>
              </a:ext>
            </a:extLst>
          </p:cNvPr>
          <p:cNvSpPr/>
          <p:nvPr/>
        </p:nvSpPr>
        <p:spPr>
          <a:xfrm>
            <a:off x="457986" y="1011599"/>
            <a:ext cx="610406" cy="45719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39F4DB59-367A-48F0-ABFE-9C84A8ACC754}"/>
              </a:ext>
            </a:extLst>
          </p:cNvPr>
          <p:cNvSpPr/>
          <p:nvPr/>
        </p:nvSpPr>
        <p:spPr>
          <a:xfrm>
            <a:off x="1282712" y="1026000"/>
            <a:ext cx="11268000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7">
            <a:extLst>
              <a:ext uri="{FF2B5EF4-FFF2-40B4-BE49-F238E27FC236}">
                <a16:creationId xmlns:a16="http://schemas.microsoft.com/office/drawing/2014/main" id="{A89BAA9C-FE11-4913-822A-A908EBB09EE2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05 / 19</a:t>
            </a:r>
            <a:endParaRPr lang="en-US" sz="1100"/>
          </a:p>
        </p:txBody>
      </p:sp>
      <p:graphicFrame>
        <p:nvGraphicFramePr>
          <p:cNvPr id="64" name="Chart 27">
            <a:extLst>
              <a:ext uri="{FF2B5EF4-FFF2-40B4-BE49-F238E27FC236}">
                <a16:creationId xmlns:a16="http://schemas.microsoft.com/office/drawing/2014/main" id="{FC994D8E-A1AF-4A83-B865-4A81BC8F0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83525"/>
              </p:ext>
            </p:extLst>
          </p:nvPr>
        </p:nvGraphicFramePr>
        <p:xfrm>
          <a:off x="144000" y="1360800"/>
          <a:ext cx="6912000" cy="25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Chart 28">
            <a:extLst>
              <a:ext uri="{FF2B5EF4-FFF2-40B4-BE49-F238E27FC236}">
                <a16:creationId xmlns:a16="http://schemas.microsoft.com/office/drawing/2014/main" id="{7E7DE6E1-B74D-46A1-9D21-753A2A98A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346973"/>
              </p:ext>
            </p:extLst>
          </p:nvPr>
        </p:nvGraphicFramePr>
        <p:xfrm>
          <a:off x="144000" y="4140000"/>
          <a:ext cx="6912000" cy="232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TextBox 30">
            <a:extLst>
              <a:ext uri="{FF2B5EF4-FFF2-40B4-BE49-F238E27FC236}">
                <a16:creationId xmlns:a16="http://schemas.microsoft.com/office/drawing/2014/main" id="{CEB325B8-9507-4A9E-8170-7A45F5E3C475}"/>
              </a:ext>
            </a:extLst>
          </p:cNvPr>
          <p:cNvSpPr txBox="1"/>
          <p:nvPr/>
        </p:nvSpPr>
        <p:spPr>
          <a:xfrm>
            <a:off x="144000" y="3931200"/>
            <a:ext cx="6912000" cy="22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rolling_dev 50 · 真实 CVE 召回率</a:t>
            </a:r>
          </a:p>
        </p:txBody>
      </p:sp>
      <p:sp>
        <p:nvSpPr>
          <p:cNvPr id="67" name="TextBox 29">
            <a:extLst>
              <a:ext uri="{FF2B5EF4-FFF2-40B4-BE49-F238E27FC236}">
                <a16:creationId xmlns:a16="http://schemas.microsoft.com/office/drawing/2014/main" id="{4A205BDD-A02D-40FD-A38E-C6E2A4AB5276}"/>
              </a:ext>
            </a:extLst>
          </p:cNvPr>
          <p:cNvSpPr txBox="1"/>
          <p:nvPr/>
        </p:nvSpPr>
        <p:spPr>
          <a:xfrm>
            <a:off x="144000" y="1123200"/>
            <a:ext cx="6912000" cy="22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87 段合成集（</a:t>
            </a:r>
            <a:r>
              <a:rPr sz="1400" b="1">
                <a:solidFill>
                  <a:srgbClr val="4A7FA5"/>
                </a:solidFill>
                <a:latin typeface="Noto Sans SC"/>
                <a:ea typeface="Noto Sans SC"/>
                <a:cs typeface="Noto Sans SC"/>
              </a:rPr>
              <a:t>■ 召回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1400" b="1">
                <a:solidFill>
                  <a:srgbClr val="C0504D"/>
                </a:solidFill>
                <a:latin typeface="Noto Sans SC"/>
                <a:ea typeface="Noto Sans SC"/>
                <a:cs typeface="Noto Sans SC"/>
              </a:rPr>
              <a:t>■ 误报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1400" b="1">
                <a:solidFill>
                  <a:srgbClr val="6FA39B"/>
                </a:solidFill>
                <a:latin typeface="Noto Sans SC"/>
                <a:ea typeface="Noto Sans SC"/>
                <a:cs typeface="Noto Sans SC"/>
              </a:rPr>
              <a:t>■ 准确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，61 漏 / 26 安）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2000" y="1072800"/>
            <a:ext cx="4788000" cy="251999"/>
          </a:xfrm>
          <a:prstGeom prst="rect">
            <a:avLst/>
          </a:prstGeom>
          <a:noFill/>
        </p:spPr>
        <p:txBody>
          <a:bodyPr wrap="square" lIns="18000" tIns="7200" rIns="18000" bIns="7200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KEY FINDING · 路线裁决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53731D-C081-47D1-931F-95EC0823D185}"/>
              </a:ext>
            </a:extLst>
          </p:cNvPr>
          <p:cNvGrpSpPr/>
          <p:nvPr/>
        </p:nvGrpSpPr>
        <p:grpSpPr>
          <a:xfrm>
            <a:off x="7272000" y="1386000"/>
            <a:ext cx="4788000" cy="1350000"/>
            <a:chOff x="7272000" y="1386000"/>
            <a:chExt cx="4788000" cy="1350000"/>
          </a:xfrm>
        </p:grpSpPr>
        <p:sp>
          <p:nvSpPr>
            <p:cNvPr id="69" name="Rounded Rectangle 68"/>
            <p:cNvSpPr/>
            <p:nvPr/>
          </p:nvSpPr>
          <p:spPr>
            <a:xfrm>
              <a:off x="7272000" y="1386000"/>
              <a:ext cx="4788000" cy="1350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纯工具路线：真实</a:t>
              </a:r>
              <a:r>
                <a:rPr sz="1600" b="1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 CVE </a:t>
              </a: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召回仅</a:t>
              </a:r>
              <a:r>
                <a:rPr sz="1600" b="1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 6.0%</a:t>
              </a:r>
            </a:p>
            <a:p>
              <a:pPr algn="l">
                <a:lnSpc>
                  <a:spcPct val="118000"/>
                </a:lnSpc>
              </a:pP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Semgrep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在 87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段合成集召回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60.7%、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23.1%；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换到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50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段真实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CVE，召回只剩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6.0%——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规则跨写法、跨仓库即失效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272000" y="1450800"/>
              <a:ext cx="36000" cy="1220400"/>
            </a:xfrm>
            <a:prstGeom prst="rect">
              <a:avLst/>
            </a:prstGeom>
            <a:solidFill>
              <a:srgbClr val="8296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108506-0749-452F-B49B-AF7A43FB69DF}"/>
              </a:ext>
            </a:extLst>
          </p:cNvPr>
          <p:cNvGrpSpPr/>
          <p:nvPr/>
        </p:nvGrpSpPr>
        <p:grpSpPr>
          <a:xfrm>
            <a:off x="7272000" y="2844000"/>
            <a:ext cx="4788000" cy="1350000"/>
            <a:chOff x="7272000" y="2844000"/>
            <a:chExt cx="4788000" cy="1350000"/>
          </a:xfrm>
        </p:grpSpPr>
        <p:sp>
          <p:nvSpPr>
            <p:cNvPr id="71" name="Rounded Rectangle 70"/>
            <p:cNvSpPr/>
            <p:nvPr/>
          </p:nvSpPr>
          <p:spPr>
            <a:xfrm>
              <a:off x="7272000" y="2844000"/>
              <a:ext cx="4788000" cy="1350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纯模型路线：合成集强、真实仓库弱</a:t>
              </a:r>
              <a:endParaRPr sz="16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</a:endParaRPr>
            </a:p>
            <a:p>
              <a:pPr algn="l">
                <a:lnSpc>
                  <a:spcPct val="118000"/>
                </a:lnSpc>
              </a:pP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纯 LLM-SFT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96.7%，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但真实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CVE 仅 59.5%，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误报率仍有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15.4%——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模型认得漏洞形态，却找不全真实上下文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272000" y="2908800"/>
              <a:ext cx="36000" cy="1220400"/>
            </a:xfrm>
            <a:prstGeom prst="rect">
              <a:avLst/>
            </a:prstGeom>
            <a:solidFill>
              <a:srgbClr val="8296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927E70-A383-4804-B428-AAAAD75276BF}"/>
              </a:ext>
            </a:extLst>
          </p:cNvPr>
          <p:cNvGrpSpPr/>
          <p:nvPr/>
        </p:nvGrpSpPr>
        <p:grpSpPr>
          <a:xfrm>
            <a:off x="7272000" y="4302000"/>
            <a:ext cx="4788000" cy="1422000"/>
            <a:chOff x="7272000" y="4302000"/>
            <a:chExt cx="4788000" cy="1422000"/>
          </a:xfrm>
        </p:grpSpPr>
        <p:sp>
          <p:nvSpPr>
            <p:cNvPr id="73" name="Rounded Rectangle 72"/>
            <p:cNvSpPr/>
            <p:nvPr/>
          </p:nvSpPr>
          <p:spPr>
            <a:xfrm>
              <a:off x="7272000" y="4302000"/>
              <a:ext cx="4788000" cy="1422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两阶段融合：双口径同时最优</a:t>
              </a:r>
              <a:endParaRPr sz="16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</a:endParaRPr>
            </a:p>
            <a:p>
              <a:pPr algn="l">
                <a:lnSpc>
                  <a:spcPct val="118000"/>
                </a:lnSpc>
              </a:pP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100%、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误报压到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4.3%、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准确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98.7%；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CVE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64.5%，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仍是四条路线中最高，且不存在以漏报换误报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272000" y="4366800"/>
              <a:ext cx="36000" cy="1292400"/>
            </a:xfrm>
            <a:prstGeom prst="rect">
              <a:avLst/>
            </a:prstGeom>
            <a:solidFill>
              <a:srgbClr val="D996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5" name="Rounded Rectangle 74"/>
          <p:cNvSpPr/>
          <p:nvPr/>
        </p:nvSpPr>
        <p:spPr>
          <a:xfrm>
            <a:off x="7334250" y="5854700"/>
            <a:ext cx="4725750" cy="607300"/>
          </a:xfrm>
          <a:prstGeom prst="roundRect">
            <a:avLst>
              <a:gd name="adj" fmla="val 8000"/>
            </a:avLst>
          </a:prstGeom>
          <a:solidFill>
            <a:srgbClr val="1F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7600" rIns="125999" bIns="36000" rtlCol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工具负责找全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 × </a:t>
            </a: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模型负责判准</a:t>
            </a:r>
            <a:endParaRPr sz="1350" b="1" dirty="0">
              <a:solidFill>
                <a:srgbClr val="D9962E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5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——</a:t>
            </a:r>
            <a:r>
              <a:rPr sz="1350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这正是本项目选择两阶段架构的直接实验依据</a:t>
            </a:r>
            <a:endParaRPr sz="1350" b="1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87600" y="6559200"/>
            <a:ext cx="5335200" cy="198000"/>
          </a:xfrm>
          <a:prstGeom prst="rect">
            <a:avLst/>
          </a:prstGeom>
          <a:noFill/>
        </p:spPr>
        <p:txBody>
          <a:bodyPr wrap="square" lIns="18000" tIns="7200" rIns="18000" bIns="7200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96A2AC"/>
                </a:solidFill>
                <a:latin typeface="Noto Sans SC"/>
                <a:ea typeface="Noto Sans SC"/>
                <a:cs typeface="Noto Sans SC"/>
              </a:rPr>
              <a:t>码安管家 · LLM驱动的漏洞分析站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19319271-4E17-4DA2-936E-113B249679F4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F9C8D8C-D8DB-4FF6-90EA-F51F46EFAE90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DDD2A358-2B28-49A1-9521-63802D8D357B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875C5F-FEFA-4D74-AA09-5A042BC366AA}"/>
              </a:ext>
            </a:extLst>
          </p:cNvPr>
          <p:cNvGrpSpPr/>
          <p:nvPr/>
        </p:nvGrpSpPr>
        <p:grpSpPr>
          <a:xfrm>
            <a:off x="3784600" y="2641600"/>
            <a:ext cx="7302500" cy="1016000"/>
            <a:chOff x="3784600" y="2641600"/>
            <a:chExt cx="7302500" cy="1016000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5A9B50A5-A3EE-490B-9B3F-0BB063479675}"/>
                </a:ext>
              </a:extLst>
            </p:cNvPr>
            <p:cNvSpPr/>
            <p:nvPr/>
          </p:nvSpPr>
          <p:spPr>
            <a:xfrm>
              <a:off x="3784600" y="2742507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6">
              <a:extLst>
                <a:ext uri="{FF2B5EF4-FFF2-40B4-BE49-F238E27FC236}">
                  <a16:creationId xmlns:a16="http://schemas.microsoft.com/office/drawing/2014/main" id="{4121A9F5-249A-44A8-84C3-84EBECD471FA}"/>
                </a:ext>
              </a:extLst>
            </p:cNvPr>
            <p:cNvSpPr/>
            <p:nvPr/>
          </p:nvSpPr>
          <p:spPr>
            <a:xfrm>
              <a:off x="39751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4400" dirty="0"/>
            </a:p>
          </p:txBody>
        </p:sp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9764B96B-AAAF-44EE-B474-E0D29D9B0179}"/>
                </a:ext>
              </a:extLst>
            </p:cNvPr>
            <p:cNvSpPr/>
            <p:nvPr/>
          </p:nvSpPr>
          <p:spPr>
            <a:xfrm>
              <a:off x="3975100" y="34036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OUR REAL VALUE · THREE LAYERS OF TRANSFERABLE CAPABILITY</a:t>
              </a:r>
              <a:endParaRPr lang="en-US" sz="1100" dirty="0"/>
            </a:p>
          </p:txBody>
        </p:sp>
      </p:grpSp>
      <p:sp>
        <p:nvSpPr>
          <p:cNvPr id="35" name="AutoShape 8">
            <a:extLst>
              <a:ext uri="{FF2B5EF4-FFF2-40B4-BE49-F238E27FC236}">
                <a16:creationId xmlns:a16="http://schemas.microsoft.com/office/drawing/2014/main" id="{DF951CE6-FFA4-4D82-AD63-6B37CF9CFA6A}"/>
              </a:ext>
            </a:extLst>
          </p:cNvPr>
          <p:cNvSpPr/>
          <p:nvPr/>
        </p:nvSpPr>
        <p:spPr>
          <a:xfrm>
            <a:off x="3975100" y="3746500"/>
            <a:ext cx="763893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比最终系统更可迁移的，是三层能力：数据 · 训练 · 实验</a:t>
            </a:r>
            <a:br/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本章先给全览，再逐层展开证据</a:t>
            </a:r>
            <a:r>
              <a:rPr lang="zh-CN" alt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r>
              <a:rPr lang="en-US" sz="20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2000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D68EFFC-8AA9-4209-9AA2-DD51BDE76962}"/>
              </a:ext>
            </a:extLst>
          </p:cNvPr>
          <p:cNvGrpSpPr/>
          <p:nvPr/>
        </p:nvGrpSpPr>
        <p:grpSpPr>
          <a:xfrm>
            <a:off x="6375400" y="4902200"/>
            <a:ext cx="1092200" cy="330200"/>
            <a:chOff x="6375400" y="4902200"/>
            <a:chExt cx="1092200" cy="330200"/>
          </a:xfrm>
        </p:grpSpPr>
        <p:sp>
          <p:nvSpPr>
            <p:cNvPr id="43" name="AutoShape 13">
              <a:extLst>
                <a:ext uri="{FF2B5EF4-FFF2-40B4-BE49-F238E27FC236}">
                  <a16:creationId xmlns:a16="http://schemas.microsoft.com/office/drawing/2014/main" id="{EA4289A2-3770-47C5-B4A0-2D8FFFAEF611}"/>
                </a:ext>
              </a:extLst>
            </p:cNvPr>
            <p:cNvSpPr/>
            <p:nvPr/>
          </p:nvSpPr>
          <p:spPr>
            <a:xfrm>
              <a:off x="63754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4" name="AutoShape 14">
              <a:extLst>
                <a:ext uri="{FF2B5EF4-FFF2-40B4-BE49-F238E27FC236}">
                  <a16:creationId xmlns:a16="http://schemas.microsoft.com/office/drawing/2014/main" id="{F496733C-22B1-4E1B-BD70-AA51AEBF4604}"/>
                </a:ext>
              </a:extLst>
            </p:cNvPr>
            <p:cNvSpPr/>
            <p:nvPr/>
          </p:nvSpPr>
          <p:spPr>
            <a:xfrm>
              <a:off x="63754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我们的价值</a:t>
              </a:r>
              <a:endParaRPr lang="en-US" sz="11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8BC41AA-7D52-4BB0-8226-74A0A7F35011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21F44587-52F5-4545-BD24-2F6FE65C0BB2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37" name="AutoShape 9">
                <a:extLst>
                  <a:ext uri="{FF2B5EF4-FFF2-40B4-BE49-F238E27FC236}">
                    <a16:creationId xmlns:a16="http://schemas.microsoft.com/office/drawing/2014/main" id="{98E7174F-3D9B-42C5-B7AA-B7FFBCC86300}"/>
                  </a:ext>
                </a:extLst>
              </p:cNvPr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8" name="AutoShape 10">
                <a:extLst>
                  <a:ext uri="{FF2B5EF4-FFF2-40B4-BE49-F238E27FC236}">
                    <a16:creationId xmlns:a16="http://schemas.microsoft.com/office/drawing/2014/main" id="{88B39771-4DC5-4F6B-B21F-CD09926B07AF}"/>
                  </a:ext>
                </a:extLst>
              </p:cNvPr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研究背景</a:t>
                </a:r>
                <a:endParaRPr lang="en-US" sz="1100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354AFBF5-AAE3-4638-8577-F4AF1C7B218D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40" name="AutoShape 11">
                <a:extLst>
                  <a:ext uri="{FF2B5EF4-FFF2-40B4-BE49-F238E27FC236}">
                    <a16:creationId xmlns:a16="http://schemas.microsoft.com/office/drawing/2014/main" id="{05CFE444-D89C-4011-A693-0AD34374583F}"/>
                  </a:ext>
                </a:extLst>
              </p:cNvPr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1" name="AutoShape 12">
                <a:extLst>
                  <a:ext uri="{FF2B5EF4-FFF2-40B4-BE49-F238E27FC236}">
                    <a16:creationId xmlns:a16="http://schemas.microsoft.com/office/drawing/2014/main" id="{37FD1CDD-F2F3-4BB7-BFAC-8A79ADD9218F}"/>
                  </a:ext>
                </a:extLst>
              </p:cNvPr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能力总览</a:t>
                </a:r>
                <a:endParaRPr lang="en-US" sz="1100" dirty="0"/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5EB3CF07-445A-45CF-B8C7-01DA701E6CBF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46" name="AutoShape 15">
                <a:extLst>
                  <a:ext uri="{FF2B5EF4-FFF2-40B4-BE49-F238E27FC236}">
                    <a16:creationId xmlns:a16="http://schemas.microsoft.com/office/drawing/2014/main" id="{EEB5E4DD-F010-487C-8627-643EFA1AF842}"/>
                  </a:ext>
                </a:extLst>
              </p:cNvPr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7" name="AutoShape 16">
                <a:extLst>
                  <a:ext uri="{FF2B5EF4-FFF2-40B4-BE49-F238E27FC236}">
                    <a16:creationId xmlns:a16="http://schemas.microsoft.com/office/drawing/2014/main" id="{E0A548E9-C97E-4F44-A357-C6E05924007D}"/>
                  </a:ext>
                </a:extLst>
              </p:cNvPr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6D2CA94B-F121-47E0-BC20-65BCBFC364B7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49" name="AutoShape 17">
                <a:extLst>
                  <a:ext uri="{FF2B5EF4-FFF2-40B4-BE49-F238E27FC236}">
                    <a16:creationId xmlns:a16="http://schemas.microsoft.com/office/drawing/2014/main" id="{21178D25-C099-46F2-9CD0-0035D896C7A5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0" name="AutoShape 18">
                <a:extLst>
                  <a:ext uri="{FF2B5EF4-FFF2-40B4-BE49-F238E27FC236}">
                    <a16:creationId xmlns:a16="http://schemas.microsoft.com/office/drawing/2014/main" id="{6500B9D1-646F-4096-961B-E311ACC6EBE8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系统演示</a:t>
                </a:r>
                <a:endParaRPr lang="en-US" sz="1100" dirty="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714B836B-BBDF-46EE-9995-D8B411367161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2" name="AutoShape 19">
                <a:extLst>
                  <a:ext uri="{FF2B5EF4-FFF2-40B4-BE49-F238E27FC236}">
                    <a16:creationId xmlns:a16="http://schemas.microsoft.com/office/drawing/2014/main" id="{179C2B23-1E7D-43B3-805C-CB1566964BC6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3" name="AutoShape 20">
                <a:extLst>
                  <a:ext uri="{FF2B5EF4-FFF2-40B4-BE49-F238E27FC236}">
                    <a16:creationId xmlns:a16="http://schemas.microsoft.com/office/drawing/2014/main" id="{50BE11E1-D468-48D5-9D85-6B7426811ADF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工程实现</a:t>
                </a:r>
                <a:endParaRPr lang="en-US" sz="1100" dirty="0"/>
              </a:p>
            </p:txBody>
          </p:sp>
        </p:grp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D9AC3DB8-4127-4358-AA71-E1977DD7DD12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52C0377F-590C-4BA3-AE35-DF173D20298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06 / 19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2">
            <a:extLst>
              <a:ext uri="{FF2B5EF4-FFF2-40B4-BE49-F238E27FC236}">
                <a16:creationId xmlns:a16="http://schemas.microsoft.com/office/drawing/2014/main" id="{327BC67E-05CB-44AF-A334-7D1D32B392D5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73" name="AutoShape 3">
            <a:extLst>
              <a:ext uri="{FF2B5EF4-FFF2-40B4-BE49-F238E27FC236}">
                <a16:creationId xmlns:a16="http://schemas.microsoft.com/office/drawing/2014/main" id="{CE858087-FE65-4BFA-8C0D-4A9F99CA41FF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三层可迁移能力：让「不可靠」变「可靠」的方法论</a:t>
            </a:r>
            <a:endParaRPr lang="en-US" sz="2800" dirty="0"/>
          </a:p>
        </p:txBody>
      </p:sp>
      <p:sp>
        <p:nvSpPr>
          <p:cNvPr id="74" name="AutoShape 4">
            <a:extLst>
              <a:ext uri="{FF2B5EF4-FFF2-40B4-BE49-F238E27FC236}">
                <a16:creationId xmlns:a16="http://schemas.microsoft.com/office/drawing/2014/main" id="{46B3AC79-7454-4FF8-AD56-8B078BBA266E}"/>
              </a:ext>
            </a:extLst>
          </p:cNvPr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5">
            <a:extLst>
              <a:ext uri="{FF2B5EF4-FFF2-40B4-BE49-F238E27FC236}">
                <a16:creationId xmlns:a16="http://schemas.microsoft.com/office/drawing/2014/main" id="{0EC7740C-2502-44DB-B9F7-AA0CE3052990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59F482C-DE6F-4061-8146-6B9F0594F6FA}"/>
              </a:ext>
            </a:extLst>
          </p:cNvPr>
          <p:cNvGrpSpPr/>
          <p:nvPr/>
        </p:nvGrpSpPr>
        <p:grpSpPr>
          <a:xfrm>
            <a:off x="4713931" y="1199382"/>
            <a:ext cx="2628900" cy="4581125"/>
            <a:chOff x="4713931" y="1199382"/>
            <a:chExt cx="2628900" cy="4581125"/>
          </a:xfrm>
        </p:grpSpPr>
        <p:sp>
          <p:nvSpPr>
            <p:cNvPr id="106" name="AutoShape 38">
              <a:extLst>
                <a:ext uri="{FF2B5EF4-FFF2-40B4-BE49-F238E27FC236}">
                  <a16:creationId xmlns:a16="http://schemas.microsoft.com/office/drawing/2014/main" id="{F19A86C0-4218-4AC9-8F28-B474BBB4E1E8}"/>
                </a:ext>
              </a:extLst>
            </p:cNvPr>
            <p:cNvSpPr/>
            <p:nvPr/>
          </p:nvSpPr>
          <p:spPr>
            <a:xfrm>
              <a:off x="4713931" y="1384416"/>
              <a:ext cx="2628900" cy="4396091"/>
            </a:xfrm>
            <a:prstGeom prst="roundRect">
              <a:avLst>
                <a:gd name="adj" fmla="val 3864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7" name="AutoShape 39">
              <a:extLst>
                <a:ext uri="{FF2B5EF4-FFF2-40B4-BE49-F238E27FC236}">
                  <a16:creationId xmlns:a16="http://schemas.microsoft.com/office/drawing/2014/main" id="{6912A702-8B75-4C36-9C4B-DF1B0F677593}"/>
                </a:ext>
              </a:extLst>
            </p:cNvPr>
            <p:cNvSpPr/>
            <p:nvPr/>
          </p:nvSpPr>
          <p:spPr>
            <a:xfrm>
              <a:off x="4713931" y="1183982"/>
              <a:ext cx="2628900" cy="508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08" name="Picture 40">
              <a:extLst>
                <a:ext uri="{FF2B5EF4-FFF2-40B4-BE49-F238E27FC236}">
                  <a16:creationId xmlns:a16="http://schemas.microsoft.com/office/drawing/2014/main" id="{D905FA65-3D6B-4904-951A-CABECEC01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24167" y="1480414"/>
              <a:ext cx="330200" cy="423989"/>
            </a:xfrm>
            <a:prstGeom prst="rect">
              <a:avLst/>
            </a:prstGeom>
          </p:spPr>
        </p:pic>
        <p:sp>
          <p:nvSpPr>
            <p:cNvPr id="109" name="AutoShape 41">
              <a:extLst>
                <a:ext uri="{FF2B5EF4-FFF2-40B4-BE49-F238E27FC236}">
                  <a16:creationId xmlns:a16="http://schemas.microsoft.com/office/drawing/2014/main" id="{AD8DD4C9-DC72-4C54-BB00-BC60E7D0358F}"/>
                </a:ext>
              </a:extLst>
            </p:cNvPr>
            <p:cNvSpPr/>
            <p:nvPr/>
          </p:nvSpPr>
          <p:spPr>
            <a:xfrm>
              <a:off x="5355967" y="1533616"/>
              <a:ext cx="1778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训练层</a:t>
              </a:r>
              <a:endParaRPr lang="en-US" sz="1800" dirty="0"/>
            </a:p>
          </p:txBody>
        </p:sp>
        <p:sp>
          <p:nvSpPr>
            <p:cNvPr id="110" name="AutoShape 42">
              <a:extLst>
                <a:ext uri="{FF2B5EF4-FFF2-40B4-BE49-F238E27FC236}">
                  <a16:creationId xmlns:a16="http://schemas.microsoft.com/office/drawing/2014/main" id="{6EBFA1C5-C27F-4B6C-9CD5-F95433322724}"/>
                </a:ext>
              </a:extLst>
            </p:cNvPr>
            <p:cNvSpPr/>
            <p:nvPr/>
          </p:nvSpPr>
          <p:spPr>
            <a:xfrm>
              <a:off x="5347386" y="1885201"/>
              <a:ext cx="1778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02 · TRAINING</a:t>
              </a:r>
              <a:endParaRPr lang="en-US" sz="1100" dirty="0"/>
            </a:p>
          </p:txBody>
        </p:sp>
        <p:cxnSp>
          <p:nvCxnSpPr>
            <p:cNvPr id="111" name="Connector 43">
              <a:extLst>
                <a:ext uri="{FF2B5EF4-FFF2-40B4-BE49-F238E27FC236}">
                  <a16:creationId xmlns:a16="http://schemas.microsoft.com/office/drawing/2014/main" id="{DA2AEDAB-AB7B-4859-B681-C8B468A5E2A6}"/>
                </a:ext>
              </a:extLst>
            </p:cNvPr>
            <p:cNvCxnSpPr/>
            <p:nvPr/>
          </p:nvCxnSpPr>
          <p:spPr>
            <a:xfrm rot="-19205">
              <a:off x="4885398" y="2124312"/>
              <a:ext cx="22733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2" name="AutoShape 44">
              <a:extLst>
                <a:ext uri="{FF2B5EF4-FFF2-40B4-BE49-F238E27FC236}">
                  <a16:creationId xmlns:a16="http://schemas.microsoft.com/office/drawing/2014/main" id="{2530A43A-B244-4DC9-93FA-554514F9CD9D}"/>
                </a:ext>
              </a:extLst>
            </p:cNvPr>
            <p:cNvSpPr/>
            <p:nvPr/>
          </p:nvSpPr>
          <p:spPr>
            <a:xfrm>
              <a:off x="4904946" y="2159466"/>
              <a:ext cx="2286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会什么</a:t>
              </a: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· CAPABILITY</a:t>
              </a:r>
              <a:endParaRPr lang="en-US" sz="1600" dirty="0"/>
            </a:p>
          </p:txBody>
        </p:sp>
        <p:sp>
          <p:nvSpPr>
            <p:cNvPr id="113" name="AutoShape 45">
              <a:extLst>
                <a:ext uri="{FF2B5EF4-FFF2-40B4-BE49-F238E27FC236}">
                  <a16:creationId xmlns:a16="http://schemas.microsoft.com/office/drawing/2014/main" id="{6425A618-EB97-4514-A6DA-434DDC3549B7}"/>
                </a:ext>
              </a:extLst>
            </p:cNvPr>
            <p:cNvSpPr/>
            <p:nvPr/>
          </p:nvSpPr>
          <p:spPr>
            <a:xfrm>
              <a:off x="4885380" y="2558305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4" name="AutoShape 46">
              <a:extLst>
                <a:ext uri="{FF2B5EF4-FFF2-40B4-BE49-F238E27FC236}">
                  <a16:creationId xmlns:a16="http://schemas.microsoft.com/office/drawing/2014/main" id="{85AFAAAE-612D-4A55-9DEE-9633F4740CE8}"/>
                </a:ext>
              </a:extLst>
            </p:cNvPr>
            <p:cNvSpPr/>
            <p:nvPr/>
          </p:nvSpPr>
          <p:spPr>
            <a:xfrm>
              <a:off x="5037781" y="2447342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先判任务需要基座的什么能力，再选训练手段</a:t>
              </a:r>
              <a:endParaRPr lang="en-US" sz="1600" dirty="0"/>
            </a:p>
          </p:txBody>
        </p:sp>
        <p:sp>
          <p:nvSpPr>
            <p:cNvPr id="115" name="AutoShape 47">
              <a:extLst>
                <a:ext uri="{FF2B5EF4-FFF2-40B4-BE49-F238E27FC236}">
                  <a16:creationId xmlns:a16="http://schemas.microsoft.com/office/drawing/2014/main" id="{CDF01C8A-6C6C-4B36-9FE5-8FD4B0C03306}"/>
                </a:ext>
              </a:extLst>
            </p:cNvPr>
            <p:cNvSpPr/>
            <p:nvPr/>
          </p:nvSpPr>
          <p:spPr>
            <a:xfrm>
              <a:off x="4892932" y="3315272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6" name="AutoShape 48">
              <a:extLst>
                <a:ext uri="{FF2B5EF4-FFF2-40B4-BE49-F238E27FC236}">
                  <a16:creationId xmlns:a16="http://schemas.microsoft.com/office/drawing/2014/main" id="{FD5E685B-5390-487B-BC34-40687A0AF69E}"/>
                </a:ext>
              </a:extLst>
            </p:cNvPr>
            <p:cNvSpPr/>
            <p:nvPr/>
          </p:nvSpPr>
          <p:spPr>
            <a:xfrm>
              <a:off x="5056831" y="3189575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分得清什么能训、什么不能硬训</a:t>
              </a:r>
              <a:endParaRPr lang="en-US" sz="1600" dirty="0"/>
            </a:p>
          </p:txBody>
        </p:sp>
        <p:sp>
          <p:nvSpPr>
            <p:cNvPr id="117" name="AutoShape 49">
              <a:extLst>
                <a:ext uri="{FF2B5EF4-FFF2-40B4-BE49-F238E27FC236}">
                  <a16:creationId xmlns:a16="http://schemas.microsoft.com/office/drawing/2014/main" id="{56641E80-1CB5-4B13-9F00-ED5EFEA30248}"/>
                </a:ext>
              </a:extLst>
            </p:cNvPr>
            <p:cNvSpPr/>
            <p:nvPr/>
          </p:nvSpPr>
          <p:spPr>
            <a:xfrm>
              <a:off x="4907349" y="4025132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8" name="AutoShape 50">
              <a:extLst>
                <a:ext uri="{FF2B5EF4-FFF2-40B4-BE49-F238E27FC236}">
                  <a16:creationId xmlns:a16="http://schemas.microsoft.com/office/drawing/2014/main" id="{150E30FF-EDBD-4776-8CE5-1D0F8308308B}"/>
                </a:ext>
              </a:extLst>
            </p:cNvPr>
            <p:cNvSpPr/>
            <p:nvPr/>
          </p:nvSpPr>
          <p:spPr>
            <a:xfrm>
              <a:off x="5044131" y="3917458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为泛化设计变体数据，每轮只动一个变量</a:t>
              </a:r>
              <a:endParaRPr lang="en-US" sz="1600" dirty="0"/>
            </a:p>
          </p:txBody>
        </p:sp>
        <p:sp>
          <p:nvSpPr>
            <p:cNvPr id="119" name="AutoShape 51">
              <a:extLst>
                <a:ext uri="{FF2B5EF4-FFF2-40B4-BE49-F238E27FC236}">
                  <a16:creationId xmlns:a16="http://schemas.microsoft.com/office/drawing/2014/main" id="{DFCBB342-4556-45B1-8AD9-664528AE366A}"/>
                </a:ext>
              </a:extLst>
            </p:cNvPr>
            <p:cNvSpPr/>
            <p:nvPr/>
          </p:nvSpPr>
          <p:spPr>
            <a:xfrm>
              <a:off x="4904946" y="5191435"/>
              <a:ext cx="2324100" cy="457200"/>
            </a:xfrm>
            <a:prstGeom prst="roundRect">
              <a:avLst>
                <a:gd name="adj" fmla="val 16666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0" name="AutoShape 52">
              <a:extLst>
                <a:ext uri="{FF2B5EF4-FFF2-40B4-BE49-F238E27FC236}">
                  <a16:creationId xmlns:a16="http://schemas.microsoft.com/office/drawing/2014/main" id="{663A7DCD-F2D5-43A8-8AF8-3685745520D5}"/>
                </a:ext>
              </a:extLst>
            </p:cNvPr>
            <p:cNvSpPr/>
            <p:nvPr/>
          </p:nvSpPr>
          <p:spPr>
            <a:xfrm>
              <a:off x="4986981" y="5234891"/>
              <a:ext cx="20701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双教师蒸馏 8B 约百元 · 10,167 条在审</a:t>
              </a:r>
              <a:endParaRPr lang="en-US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2DAD7D8-F8AE-4B32-ADA1-220D3905A423}"/>
              </a:ext>
            </a:extLst>
          </p:cNvPr>
          <p:cNvGrpSpPr/>
          <p:nvPr/>
        </p:nvGrpSpPr>
        <p:grpSpPr>
          <a:xfrm>
            <a:off x="8391615" y="1191111"/>
            <a:ext cx="2689135" cy="4605935"/>
            <a:chOff x="8391615" y="1191111"/>
            <a:chExt cx="2689135" cy="4605935"/>
          </a:xfrm>
        </p:grpSpPr>
        <p:sp>
          <p:nvSpPr>
            <p:cNvPr id="121" name="AutoShape 53">
              <a:extLst>
                <a:ext uri="{FF2B5EF4-FFF2-40B4-BE49-F238E27FC236}">
                  <a16:creationId xmlns:a16="http://schemas.microsoft.com/office/drawing/2014/main" id="{D208FAF9-522D-4A73-8EF5-A9F0241F4766}"/>
                </a:ext>
              </a:extLst>
            </p:cNvPr>
            <p:cNvSpPr/>
            <p:nvPr/>
          </p:nvSpPr>
          <p:spPr>
            <a:xfrm>
              <a:off x="8391615" y="1400955"/>
              <a:ext cx="2628900" cy="4396091"/>
            </a:xfrm>
            <a:prstGeom prst="roundRect">
              <a:avLst>
                <a:gd name="adj" fmla="val 3864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2" name="AutoShape 54">
              <a:extLst>
                <a:ext uri="{FF2B5EF4-FFF2-40B4-BE49-F238E27FC236}">
                  <a16:creationId xmlns:a16="http://schemas.microsoft.com/office/drawing/2014/main" id="{B51CF194-5A1F-4AEE-AB53-FB8DEAA9B7B9}"/>
                </a:ext>
              </a:extLst>
            </p:cNvPr>
            <p:cNvSpPr/>
            <p:nvPr/>
          </p:nvSpPr>
          <p:spPr>
            <a:xfrm>
              <a:off x="8391615" y="1175711"/>
              <a:ext cx="2628900" cy="508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23" name="Picture 55">
              <a:extLst>
                <a:ext uri="{FF2B5EF4-FFF2-40B4-BE49-F238E27FC236}">
                  <a16:creationId xmlns:a16="http://schemas.microsoft.com/office/drawing/2014/main" id="{1C302D6A-EB64-45E5-85AB-B8D4DD20B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846236" y="1524311"/>
              <a:ext cx="330200" cy="355600"/>
            </a:xfrm>
            <a:prstGeom prst="rect">
              <a:avLst/>
            </a:prstGeom>
          </p:spPr>
        </p:pic>
        <p:sp>
          <p:nvSpPr>
            <p:cNvPr id="124" name="AutoShape 56">
              <a:extLst>
                <a:ext uri="{FF2B5EF4-FFF2-40B4-BE49-F238E27FC236}">
                  <a16:creationId xmlns:a16="http://schemas.microsoft.com/office/drawing/2014/main" id="{48EB448F-08C6-43D9-9866-0DC819DF3CFE}"/>
                </a:ext>
              </a:extLst>
            </p:cNvPr>
            <p:cNvSpPr/>
            <p:nvPr/>
          </p:nvSpPr>
          <p:spPr>
            <a:xfrm>
              <a:off x="9302750" y="1527267"/>
              <a:ext cx="1778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实验层</a:t>
              </a:r>
              <a:endParaRPr lang="en-US" sz="1800" dirty="0"/>
            </a:p>
          </p:txBody>
        </p:sp>
        <p:sp>
          <p:nvSpPr>
            <p:cNvPr id="125" name="AutoShape 57">
              <a:extLst>
                <a:ext uri="{FF2B5EF4-FFF2-40B4-BE49-F238E27FC236}">
                  <a16:creationId xmlns:a16="http://schemas.microsoft.com/office/drawing/2014/main" id="{0364C215-2ADA-452F-A3CE-3F60762C88B4}"/>
                </a:ext>
              </a:extLst>
            </p:cNvPr>
            <p:cNvSpPr/>
            <p:nvPr/>
          </p:nvSpPr>
          <p:spPr>
            <a:xfrm>
              <a:off x="9302750" y="1862234"/>
              <a:ext cx="1778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8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03 · EXPERIMENT</a:t>
              </a:r>
              <a:endParaRPr lang="en-US" sz="1100" dirty="0"/>
            </a:p>
          </p:txBody>
        </p:sp>
        <p:cxnSp>
          <p:nvCxnSpPr>
            <p:cNvPr id="126" name="Connector 58">
              <a:extLst>
                <a:ext uri="{FF2B5EF4-FFF2-40B4-BE49-F238E27FC236}">
                  <a16:creationId xmlns:a16="http://schemas.microsoft.com/office/drawing/2014/main" id="{86FE83B0-2652-416D-AFEF-E5053C774DFF}"/>
                </a:ext>
              </a:extLst>
            </p:cNvPr>
            <p:cNvCxnSpPr/>
            <p:nvPr/>
          </p:nvCxnSpPr>
          <p:spPr>
            <a:xfrm rot="-19205">
              <a:off x="8742498" y="2084910"/>
              <a:ext cx="22733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7" name="AutoShape 59">
              <a:extLst>
                <a:ext uri="{FF2B5EF4-FFF2-40B4-BE49-F238E27FC236}">
                  <a16:creationId xmlns:a16="http://schemas.microsoft.com/office/drawing/2014/main" id="{B3901D23-F2AC-4C5E-B8E2-3C2161DAB6C5}"/>
                </a:ext>
              </a:extLst>
            </p:cNvPr>
            <p:cNvSpPr/>
            <p:nvPr/>
          </p:nvSpPr>
          <p:spPr>
            <a:xfrm>
              <a:off x="8736148" y="2110166"/>
              <a:ext cx="2286000" cy="15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会什么</a:t>
              </a:r>
              <a:r>
                <a:rPr lang="en-US" sz="16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· CAPABILITY</a:t>
              </a:r>
              <a:endParaRPr lang="en-US" sz="1600" dirty="0"/>
            </a:p>
          </p:txBody>
        </p:sp>
        <p:sp>
          <p:nvSpPr>
            <p:cNvPr id="128" name="AutoShape 60">
              <a:extLst>
                <a:ext uri="{FF2B5EF4-FFF2-40B4-BE49-F238E27FC236}">
                  <a16:creationId xmlns:a16="http://schemas.microsoft.com/office/drawing/2014/main" id="{1C0F9959-2A19-4119-9615-7FBB1B60EB90}"/>
                </a:ext>
              </a:extLst>
            </p:cNvPr>
            <p:cNvSpPr/>
            <p:nvPr/>
          </p:nvSpPr>
          <p:spPr>
            <a:xfrm>
              <a:off x="8585963" y="2565483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9" name="AutoShape 61">
              <a:extLst>
                <a:ext uri="{FF2B5EF4-FFF2-40B4-BE49-F238E27FC236}">
                  <a16:creationId xmlns:a16="http://schemas.microsoft.com/office/drawing/2014/main" id="{58BD6DFC-CD50-4775-BC10-02DB2D54981F}"/>
                </a:ext>
              </a:extLst>
            </p:cNvPr>
            <p:cNvSpPr/>
            <p:nvPr/>
          </p:nvSpPr>
          <p:spPr>
            <a:xfrm>
              <a:off x="8742480" y="2447342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zh-CN" altLang="en-US" sz="1600" dirty="0"/>
                <a:t>每项实验须控制单一变量，并可凭直觉、发散构思设计证伪自身结论的对照方案</a:t>
              </a:r>
              <a:endParaRPr lang="en-US" sz="1600" dirty="0"/>
            </a:p>
          </p:txBody>
        </p:sp>
        <p:sp>
          <p:nvSpPr>
            <p:cNvPr id="130" name="AutoShape 62">
              <a:extLst>
                <a:ext uri="{FF2B5EF4-FFF2-40B4-BE49-F238E27FC236}">
                  <a16:creationId xmlns:a16="http://schemas.microsoft.com/office/drawing/2014/main" id="{C3EA0AEC-D30F-4B65-B060-68BC50550D95}"/>
                </a:ext>
              </a:extLst>
            </p:cNvPr>
            <p:cNvSpPr/>
            <p:nvPr/>
          </p:nvSpPr>
          <p:spPr>
            <a:xfrm>
              <a:off x="8581713" y="3722324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1" name="AutoShape 63">
              <a:extLst>
                <a:ext uri="{FF2B5EF4-FFF2-40B4-BE49-F238E27FC236}">
                  <a16:creationId xmlns:a16="http://schemas.microsoft.com/office/drawing/2014/main" id="{59A9C7B0-973A-41EE-B2D7-7D33B52C930C}"/>
                </a:ext>
              </a:extLst>
            </p:cNvPr>
            <p:cNvSpPr/>
            <p:nvPr/>
          </p:nvSpPr>
          <p:spPr>
            <a:xfrm>
              <a:off x="8731262" y="3621341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loose/strict + micro/</a:t>
              </a: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加权双口径，测量与自举隔离</a:t>
              </a:r>
              <a:endParaRPr lang="en-US" sz="1600" dirty="0"/>
            </a:p>
          </p:txBody>
        </p:sp>
        <p:sp>
          <p:nvSpPr>
            <p:cNvPr id="132" name="AutoShape 64">
              <a:extLst>
                <a:ext uri="{FF2B5EF4-FFF2-40B4-BE49-F238E27FC236}">
                  <a16:creationId xmlns:a16="http://schemas.microsoft.com/office/drawing/2014/main" id="{C38EE39F-2D44-4E16-9CD0-762E04366F57}"/>
                </a:ext>
              </a:extLst>
            </p:cNvPr>
            <p:cNvSpPr/>
            <p:nvPr/>
          </p:nvSpPr>
          <p:spPr>
            <a:xfrm>
              <a:off x="8581713" y="4630361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3" name="AutoShape 65">
              <a:extLst>
                <a:ext uri="{FF2B5EF4-FFF2-40B4-BE49-F238E27FC236}">
                  <a16:creationId xmlns:a16="http://schemas.microsoft.com/office/drawing/2014/main" id="{1E6FC3EE-BF33-4A50-B9C4-8A67872E5539}"/>
                </a:ext>
              </a:extLst>
            </p:cNvPr>
            <p:cNvSpPr/>
            <p:nvPr/>
          </p:nvSpPr>
          <p:spPr>
            <a:xfrm>
              <a:off x="8731262" y="4540480"/>
              <a:ext cx="2120900" cy="533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归因分流记账，把每次失败沉淀成检查制度</a:t>
              </a:r>
              <a:endParaRPr lang="en-US" sz="1600" dirty="0"/>
            </a:p>
          </p:txBody>
        </p:sp>
        <p:sp>
          <p:nvSpPr>
            <p:cNvPr id="134" name="AutoShape 66">
              <a:extLst>
                <a:ext uri="{FF2B5EF4-FFF2-40B4-BE49-F238E27FC236}">
                  <a16:creationId xmlns:a16="http://schemas.microsoft.com/office/drawing/2014/main" id="{EB4406E5-5101-4D11-AD73-55E913B4EBD0}"/>
                </a:ext>
              </a:extLst>
            </p:cNvPr>
            <p:cNvSpPr/>
            <p:nvPr/>
          </p:nvSpPr>
          <p:spPr>
            <a:xfrm>
              <a:off x="8571903" y="5248082"/>
              <a:ext cx="2374385" cy="497606"/>
            </a:xfrm>
            <a:prstGeom prst="roundRect">
              <a:avLst>
                <a:gd name="adj" fmla="val 16666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5" name="AutoShape 67">
              <a:extLst>
                <a:ext uri="{FF2B5EF4-FFF2-40B4-BE49-F238E27FC236}">
                  <a16:creationId xmlns:a16="http://schemas.microsoft.com/office/drawing/2014/main" id="{C6F0EBD3-AF26-4B5C-A53E-C168E0C248A8}"/>
                </a:ext>
              </a:extLst>
            </p:cNvPr>
            <p:cNvSpPr/>
            <p:nvPr/>
          </p:nvSpPr>
          <p:spPr>
            <a:xfrm>
              <a:off x="8682761" y="5210840"/>
              <a:ext cx="2152668" cy="57350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zh-CN" altLang="en-US" b="1" dirty="0">
                  <a:solidFill>
                    <a:srgbClr val="2B2F36"/>
                  </a:solidFill>
                  <a:latin typeface="Noto Sans SC"/>
                  <a:ea typeface="Noto Sans SC"/>
                  <a:sym typeface="Noto Sans SC"/>
                </a:rPr>
                <a:t>严谨实践才能检验真理</a:t>
              </a:r>
              <a:endParaRPr lang="en-US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7BF5A0D-ADC8-4C6A-B2A8-A2DC42682FE5}"/>
              </a:ext>
            </a:extLst>
          </p:cNvPr>
          <p:cNvGrpSpPr/>
          <p:nvPr/>
        </p:nvGrpSpPr>
        <p:grpSpPr>
          <a:xfrm>
            <a:off x="660364" y="5753787"/>
            <a:ext cx="10991812" cy="996089"/>
            <a:chOff x="660364" y="5753787"/>
            <a:chExt cx="10991812" cy="996089"/>
          </a:xfrm>
        </p:grpSpPr>
        <p:sp>
          <p:nvSpPr>
            <p:cNvPr id="136" name="AutoShape 68">
              <a:extLst>
                <a:ext uri="{FF2B5EF4-FFF2-40B4-BE49-F238E27FC236}">
                  <a16:creationId xmlns:a16="http://schemas.microsoft.com/office/drawing/2014/main" id="{E6BCB559-8914-4B8C-B321-34DF5D97549D}"/>
                </a:ext>
              </a:extLst>
            </p:cNvPr>
            <p:cNvSpPr/>
            <p:nvPr/>
          </p:nvSpPr>
          <p:spPr>
            <a:xfrm>
              <a:off x="777241" y="6048459"/>
              <a:ext cx="10820400" cy="517011"/>
            </a:xfrm>
            <a:prstGeom prst="roundRect">
              <a:avLst>
                <a:gd name="adj" fmla="val 9756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6EFB6A3-ADAC-4CAE-8616-46066650D446}"/>
                </a:ext>
              </a:extLst>
            </p:cNvPr>
            <p:cNvGrpSpPr/>
            <p:nvPr/>
          </p:nvGrpSpPr>
          <p:grpSpPr>
            <a:xfrm>
              <a:off x="660364" y="5753787"/>
              <a:ext cx="10991812" cy="996089"/>
              <a:chOff x="660364" y="5753787"/>
              <a:chExt cx="10991812" cy="996089"/>
            </a:xfrm>
          </p:grpSpPr>
          <p:sp>
            <p:nvSpPr>
              <p:cNvPr id="137" name="AutoShape 69">
                <a:extLst>
                  <a:ext uri="{FF2B5EF4-FFF2-40B4-BE49-F238E27FC236}">
                    <a16:creationId xmlns:a16="http://schemas.microsoft.com/office/drawing/2014/main" id="{31499551-D50E-40B1-A770-091BAE6647AD}"/>
                  </a:ext>
                </a:extLst>
              </p:cNvPr>
              <p:cNvSpPr/>
              <p:nvPr/>
            </p:nvSpPr>
            <p:spPr>
              <a:xfrm>
                <a:off x="660364" y="5796607"/>
                <a:ext cx="45719" cy="736600"/>
              </a:xfrm>
              <a:prstGeom prst="roundRect">
                <a:avLst>
                  <a:gd name="adj" fmla="val 50000"/>
                </a:avLst>
              </a:prstGeom>
              <a:solidFill>
                <a:srgbClr val="D9962E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38" name="AutoShape 70">
                <a:extLst>
                  <a:ext uri="{FF2B5EF4-FFF2-40B4-BE49-F238E27FC236}">
                    <a16:creationId xmlns:a16="http://schemas.microsoft.com/office/drawing/2014/main" id="{821B77AA-51DD-4BED-B4A7-C5EE6F4E1830}"/>
                  </a:ext>
                </a:extLst>
              </p:cNvPr>
              <p:cNvSpPr/>
              <p:nvPr/>
            </p:nvSpPr>
            <p:spPr>
              <a:xfrm>
                <a:off x="895350" y="5753787"/>
                <a:ext cx="5080000" cy="177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META-CAPABILITY · </a:t>
                </a:r>
                <a:r>
                  <a:rPr lang="en-US" sz="1600" b="1" i="0" u="none" strike="noStrike" dirty="0" err="1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贯穿</a:t>
                </a:r>
                <a:r>
                  <a:rPr lang="zh-CN" altLang="en-US" sz="1600" b="1" i="0" u="none" strike="noStrike" dirty="0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三</a:t>
                </a:r>
                <a:r>
                  <a:rPr lang="en-US" sz="1600" b="1" i="0" u="none" strike="noStrike" dirty="0" err="1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层的元能力</a:t>
                </a:r>
                <a:endParaRPr lang="en-US" sz="1600" dirty="0"/>
              </a:p>
            </p:txBody>
          </p:sp>
          <p:sp>
            <p:nvSpPr>
              <p:cNvPr id="139" name="AutoShape 71">
                <a:extLst>
                  <a:ext uri="{FF2B5EF4-FFF2-40B4-BE49-F238E27FC236}">
                    <a16:creationId xmlns:a16="http://schemas.microsoft.com/office/drawing/2014/main" id="{11C96253-C9F9-4BD8-A469-ECFF6411E9F3}"/>
                  </a:ext>
                </a:extLst>
              </p:cNvPr>
              <p:cNvSpPr/>
              <p:nvPr/>
            </p:nvSpPr>
            <p:spPr>
              <a:xfrm>
                <a:off x="825500" y="6125690"/>
                <a:ext cx="10826676" cy="62418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</a:pPr>
                <a:r>
                  <a:rPr lang="zh-CN" altLang="en-US" sz="1800" b="1" i="0" u="none" strike="noStrike" dirty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探寻和践行</a:t>
                </a:r>
                <a:r>
                  <a:rPr lang="en-US" sz="1800" b="1" i="0" u="none" strike="noStrike" dirty="0" err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方法论本身就是可迁移能力。终点不是训出一个模型，而是知道</a:t>
                </a:r>
                <a:r>
                  <a:rPr lang="zh-CN" altLang="en-US" sz="1800" b="1" i="0" u="none" strike="noStrike" dirty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怎样走能更加有机会接触到真理</a:t>
                </a:r>
                <a:endPara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endParaRPr>
              </a:p>
            </p:txBody>
          </p:sp>
        </p:grpSp>
      </p:grpSp>
      <p:sp>
        <p:nvSpPr>
          <p:cNvPr id="55" name="AutoShape 22">
            <a:extLst>
              <a:ext uri="{FF2B5EF4-FFF2-40B4-BE49-F238E27FC236}">
                <a16:creationId xmlns:a16="http://schemas.microsoft.com/office/drawing/2014/main" id="{7D36F2BF-6C57-466E-A125-A180ED62F4E3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07 / 19</a:t>
            </a:r>
            <a:endParaRPr lang="en-US" sz="11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A5E2022-A186-4B67-AC13-E0EEE8559DA2}"/>
              </a:ext>
            </a:extLst>
          </p:cNvPr>
          <p:cNvGrpSpPr/>
          <p:nvPr/>
        </p:nvGrpSpPr>
        <p:grpSpPr>
          <a:xfrm>
            <a:off x="1042415" y="1188720"/>
            <a:ext cx="2631477" cy="4614801"/>
            <a:chOff x="683223" y="1184876"/>
            <a:chExt cx="2631477" cy="461480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7F72143-172F-4487-A589-E75B2B2762F0}"/>
                </a:ext>
              </a:extLst>
            </p:cNvPr>
            <p:cNvGrpSpPr/>
            <p:nvPr/>
          </p:nvGrpSpPr>
          <p:grpSpPr>
            <a:xfrm>
              <a:off x="683223" y="1184876"/>
              <a:ext cx="2631477" cy="4614801"/>
              <a:chOff x="683223" y="1184876"/>
              <a:chExt cx="2631477" cy="4614801"/>
            </a:xfrm>
          </p:grpSpPr>
          <p:sp>
            <p:nvSpPr>
              <p:cNvPr id="76" name="AutoShape 8">
                <a:extLst>
                  <a:ext uri="{FF2B5EF4-FFF2-40B4-BE49-F238E27FC236}">
                    <a16:creationId xmlns:a16="http://schemas.microsoft.com/office/drawing/2014/main" id="{32F3E58A-D14C-40E0-8214-5ED477DD62F3}"/>
                  </a:ext>
                </a:extLst>
              </p:cNvPr>
              <p:cNvSpPr/>
              <p:nvPr/>
            </p:nvSpPr>
            <p:spPr>
              <a:xfrm>
                <a:off x="683223" y="1379819"/>
                <a:ext cx="2628900" cy="4419858"/>
              </a:xfrm>
              <a:prstGeom prst="roundRect">
                <a:avLst>
                  <a:gd name="adj" fmla="val 3864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7" name="AutoShape 9">
                <a:extLst>
                  <a:ext uri="{FF2B5EF4-FFF2-40B4-BE49-F238E27FC236}">
                    <a16:creationId xmlns:a16="http://schemas.microsoft.com/office/drawing/2014/main" id="{D869EBD4-36ED-4226-85AA-95B555066E82}"/>
                  </a:ext>
                </a:extLst>
              </p:cNvPr>
              <p:cNvSpPr/>
              <p:nvPr/>
            </p:nvSpPr>
            <p:spPr>
              <a:xfrm>
                <a:off x="685800" y="1169476"/>
                <a:ext cx="2628900" cy="50800"/>
              </a:xfrm>
              <a:prstGeom prst="roundRect">
                <a:avLst>
                  <a:gd name="adj" fmla="val 5000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pic>
            <p:nvPicPr>
              <p:cNvPr id="78" name="Picture 10">
                <a:extLst>
                  <a:ext uri="{FF2B5EF4-FFF2-40B4-BE49-F238E27FC236}">
                    <a16:creationId xmlns:a16="http://schemas.microsoft.com/office/drawing/2014/main" id="{E539DE6E-BFD8-44E1-A48C-34E6077501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78016" y="1485900"/>
                <a:ext cx="330200" cy="330200"/>
              </a:xfrm>
              <a:prstGeom prst="rect">
                <a:avLst/>
              </a:prstGeom>
            </p:spPr>
          </p:pic>
          <p:sp>
            <p:nvSpPr>
              <p:cNvPr id="79" name="AutoShape 11">
                <a:extLst>
                  <a:ext uri="{FF2B5EF4-FFF2-40B4-BE49-F238E27FC236}">
                    <a16:creationId xmlns:a16="http://schemas.microsoft.com/office/drawing/2014/main" id="{52E2B4ED-0676-48D3-B96F-E812DEC5C9BA}"/>
                  </a:ext>
                </a:extLst>
              </p:cNvPr>
              <p:cNvSpPr/>
              <p:nvPr/>
            </p:nvSpPr>
            <p:spPr>
              <a:xfrm>
                <a:off x="1339678" y="1511904"/>
                <a:ext cx="1778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数据层</a:t>
                </a:r>
                <a:endParaRPr lang="en-US" sz="1800" dirty="0"/>
              </a:p>
            </p:txBody>
          </p:sp>
          <p:sp>
            <p:nvSpPr>
              <p:cNvPr id="80" name="AutoShape 12">
                <a:extLst>
                  <a:ext uri="{FF2B5EF4-FFF2-40B4-BE49-F238E27FC236}">
                    <a16:creationId xmlns:a16="http://schemas.microsoft.com/office/drawing/2014/main" id="{B5F53247-B2A2-4922-851E-392F5FC77794}"/>
                  </a:ext>
                </a:extLst>
              </p:cNvPr>
              <p:cNvSpPr/>
              <p:nvPr/>
            </p:nvSpPr>
            <p:spPr>
              <a:xfrm>
                <a:off x="1346200" y="1867202"/>
                <a:ext cx="1778000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8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LAYER 01 · DATA</a:t>
                </a:r>
                <a:endParaRPr lang="en-US" sz="1100" dirty="0"/>
              </a:p>
            </p:txBody>
          </p:sp>
          <p:cxnSp>
            <p:nvCxnSpPr>
              <p:cNvPr id="81" name="Connector 13">
                <a:extLst>
                  <a:ext uri="{FF2B5EF4-FFF2-40B4-BE49-F238E27FC236}">
                    <a16:creationId xmlns:a16="http://schemas.microsoft.com/office/drawing/2014/main" id="{E8F69336-7F32-4D25-A2F8-CA65B907C4A4}"/>
                  </a:ext>
                </a:extLst>
              </p:cNvPr>
              <p:cNvCxnSpPr/>
              <p:nvPr/>
            </p:nvCxnSpPr>
            <p:spPr>
              <a:xfrm rot="-19205">
                <a:off x="863618" y="2112324"/>
                <a:ext cx="2273300" cy="1270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2700" cap="flat" cmpd="sng">
                <a:solidFill>
                  <a:srgbClr val="DCE0E4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2" name="AutoShape 14">
                <a:extLst>
                  <a:ext uri="{FF2B5EF4-FFF2-40B4-BE49-F238E27FC236}">
                    <a16:creationId xmlns:a16="http://schemas.microsoft.com/office/drawing/2014/main" id="{3779AC1D-9F3A-4D33-8BD9-BA50AC49BA1A}"/>
                  </a:ext>
                </a:extLst>
              </p:cNvPr>
              <p:cNvSpPr/>
              <p:nvPr/>
            </p:nvSpPr>
            <p:spPr>
              <a:xfrm>
                <a:off x="872181" y="2155957"/>
                <a:ext cx="2286000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会什么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· CAPABILITY</a:t>
                </a:r>
                <a:endParaRPr lang="en-US" sz="1600" dirty="0"/>
              </a:p>
            </p:txBody>
          </p:sp>
          <p:sp>
            <p:nvSpPr>
              <p:cNvPr id="83" name="AutoShape 15">
                <a:extLst>
                  <a:ext uri="{FF2B5EF4-FFF2-40B4-BE49-F238E27FC236}">
                    <a16:creationId xmlns:a16="http://schemas.microsoft.com/office/drawing/2014/main" id="{FF957BCF-4461-46C9-A5E1-6A79437140C6}"/>
                  </a:ext>
                </a:extLst>
              </p:cNvPr>
              <p:cNvSpPr/>
              <p:nvPr/>
            </p:nvSpPr>
            <p:spPr>
              <a:xfrm>
                <a:off x="863600" y="2589171"/>
                <a:ext cx="63500" cy="635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4" name="AutoShape 16">
                <a:extLst>
                  <a:ext uri="{FF2B5EF4-FFF2-40B4-BE49-F238E27FC236}">
                    <a16:creationId xmlns:a16="http://schemas.microsoft.com/office/drawing/2014/main" id="{C925D19E-14AD-4A9E-ACA1-1F8AD942A973}"/>
                  </a:ext>
                </a:extLst>
              </p:cNvPr>
              <p:cNvSpPr/>
              <p:nvPr/>
            </p:nvSpPr>
            <p:spPr>
              <a:xfrm>
                <a:off x="1009478" y="2457840"/>
                <a:ext cx="2025822" cy="533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给标签找最高权威：MITRE</a:t>
                </a:r>
                <a:r>
                  <a:rPr 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/ NVD / GHSA 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官方对齐</a:t>
                </a:r>
                <a:endParaRPr lang="en-US" sz="1600" dirty="0"/>
              </a:p>
            </p:txBody>
          </p:sp>
          <p:sp>
            <p:nvSpPr>
              <p:cNvPr id="86" name="AutoShape 18">
                <a:extLst>
                  <a:ext uri="{FF2B5EF4-FFF2-40B4-BE49-F238E27FC236}">
                    <a16:creationId xmlns:a16="http://schemas.microsoft.com/office/drawing/2014/main" id="{4B198F07-F787-453E-979B-4961A4BC02F7}"/>
                  </a:ext>
                </a:extLst>
              </p:cNvPr>
              <p:cNvSpPr/>
              <p:nvPr/>
            </p:nvSpPr>
            <p:spPr>
              <a:xfrm>
                <a:off x="980646" y="3361681"/>
                <a:ext cx="2054654" cy="533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先摸清失败模式，再按弱点</a:t>
                </a:r>
                <a:r>
                  <a:rPr lang="zh-CN" alt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分变体、预料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补数据</a:t>
                </a:r>
                <a:endParaRPr lang="en-US" sz="1600" dirty="0"/>
              </a:p>
            </p:txBody>
          </p:sp>
          <p:sp>
            <p:nvSpPr>
              <p:cNvPr id="88" name="AutoShape 20">
                <a:extLst>
                  <a:ext uri="{FF2B5EF4-FFF2-40B4-BE49-F238E27FC236}">
                    <a16:creationId xmlns:a16="http://schemas.microsoft.com/office/drawing/2014/main" id="{2EBFB681-A811-4062-8C88-F5FEFA2BD7FF}"/>
                  </a:ext>
                </a:extLst>
              </p:cNvPr>
              <p:cNvSpPr/>
              <p:nvPr/>
            </p:nvSpPr>
            <p:spPr>
              <a:xfrm>
                <a:off x="980131" y="4225666"/>
                <a:ext cx="2120900" cy="533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 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审查</a:t>
                </a:r>
                <a:r>
                  <a:rPr lang="en-US" sz="16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AI：双分区防合谋、六步协议、26 </a:t>
                </a:r>
                <a:r>
                  <a:rPr lang="en-US" sz="16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类错误分级</a:t>
                </a:r>
                <a:endParaRPr lang="en-US" sz="1600" dirty="0"/>
              </a:p>
            </p:txBody>
          </p:sp>
          <p:sp>
            <p:nvSpPr>
              <p:cNvPr id="89" name="AutoShape 21">
                <a:extLst>
                  <a:ext uri="{FF2B5EF4-FFF2-40B4-BE49-F238E27FC236}">
                    <a16:creationId xmlns:a16="http://schemas.microsoft.com/office/drawing/2014/main" id="{4B16C7B7-F2FC-4FE2-BA31-5FA10F34DE5D}"/>
                  </a:ext>
                </a:extLst>
              </p:cNvPr>
              <p:cNvSpPr/>
              <p:nvPr/>
            </p:nvSpPr>
            <p:spPr>
              <a:xfrm>
                <a:off x="868680" y="5193792"/>
                <a:ext cx="2322576" cy="457200"/>
              </a:xfrm>
              <a:prstGeom prst="roundRect">
                <a:avLst>
                  <a:gd name="adj" fmla="val 16666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0" name="AutoShape 22">
                <a:extLst>
                  <a:ext uri="{FF2B5EF4-FFF2-40B4-BE49-F238E27FC236}">
                    <a16:creationId xmlns:a16="http://schemas.microsoft.com/office/drawing/2014/main" id="{D6A4F006-CFAA-454C-9B78-B81D7D80E1EC}"/>
                  </a:ext>
                </a:extLst>
              </p:cNvPr>
              <p:cNvSpPr/>
              <p:nvPr/>
            </p:nvSpPr>
            <p:spPr>
              <a:xfrm>
                <a:off x="980131" y="5207601"/>
                <a:ext cx="2070100" cy="355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15 </a:t>
                </a:r>
                <a:r>
                  <a:rPr lang="en-US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审计版</a:t>
                </a: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6 </a:t>
                </a:r>
                <a:r>
                  <a:rPr lang="en-US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轮泄漏审计</a:t>
                </a: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CVE </a:t>
                </a:r>
                <a:r>
                  <a:rPr lang="en-US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对齐修</a:t>
                </a:r>
                <a:r>
                  <a:rPr lang="en-US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11 处</a:t>
                </a:r>
                <a:endParaRPr lang="en-US" dirty="0"/>
              </a:p>
            </p:txBody>
          </p:sp>
        </p:grpSp>
        <p:sp>
          <p:nvSpPr>
            <p:cNvPr id="85" name="AutoShape 17">
              <a:extLst>
                <a:ext uri="{FF2B5EF4-FFF2-40B4-BE49-F238E27FC236}">
                  <a16:creationId xmlns:a16="http://schemas.microsoft.com/office/drawing/2014/main" id="{0927F8D2-4BFF-4376-BAFD-DC2619AB3F79}"/>
                </a:ext>
              </a:extLst>
            </p:cNvPr>
            <p:cNvSpPr/>
            <p:nvPr/>
          </p:nvSpPr>
          <p:spPr>
            <a:xfrm>
              <a:off x="863600" y="3460920"/>
              <a:ext cx="63500" cy="635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7" name="AutoShape 19">
              <a:extLst>
                <a:ext uri="{FF2B5EF4-FFF2-40B4-BE49-F238E27FC236}">
                  <a16:creationId xmlns:a16="http://schemas.microsoft.com/office/drawing/2014/main" id="{48587950-81B6-4F14-A3A1-8073821597A7}"/>
                </a:ext>
              </a:extLst>
            </p:cNvPr>
            <p:cNvSpPr/>
            <p:nvPr/>
          </p:nvSpPr>
          <p:spPr>
            <a:xfrm flipH="1">
              <a:off x="863600" y="4332669"/>
              <a:ext cx="63500" cy="55868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33BB3E7B-F336-4D9B-8E2E-875D2FB8C67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19CEF9EF-A00F-468E-899A-4CF0A33887F2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能力一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数据层：让每一条数据都经得起追问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332B91DD-7DA1-4D30-9DE6-C6A5C3925CC1}"/>
              </a:ext>
            </a:extLst>
          </p:cNvPr>
          <p:cNvSpPr/>
          <p:nvPr/>
        </p:nvSpPr>
        <p:spPr>
          <a:xfrm>
            <a:off x="685800" y="1014587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B56050B2-2D0F-4971-8BAB-3944B5D54DF0}"/>
              </a:ext>
            </a:extLst>
          </p:cNvPr>
          <p:cNvSpPr/>
          <p:nvPr/>
        </p:nvSpPr>
        <p:spPr>
          <a:xfrm>
            <a:off x="11811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8A1003D-8608-421E-A62E-CB647786430C}"/>
              </a:ext>
            </a:extLst>
          </p:cNvPr>
          <p:cNvGrpSpPr/>
          <p:nvPr/>
        </p:nvGrpSpPr>
        <p:grpSpPr>
          <a:xfrm>
            <a:off x="582141" y="1457153"/>
            <a:ext cx="5461000" cy="4198910"/>
            <a:chOff x="582141" y="1457153"/>
            <a:chExt cx="5461000" cy="419891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C581EC1-E8D3-4013-8B1C-D54F55C89598}"/>
                </a:ext>
              </a:extLst>
            </p:cNvPr>
            <p:cNvGrpSpPr/>
            <p:nvPr/>
          </p:nvGrpSpPr>
          <p:grpSpPr>
            <a:xfrm>
              <a:off x="582141" y="1457153"/>
              <a:ext cx="5257800" cy="991299"/>
              <a:chOff x="582141" y="1457153"/>
              <a:chExt cx="5257800" cy="991299"/>
            </a:xfrm>
          </p:grpSpPr>
          <p:sp>
            <p:nvSpPr>
              <p:cNvPr id="46" name="AutoShape 10">
                <a:extLst>
                  <a:ext uri="{FF2B5EF4-FFF2-40B4-BE49-F238E27FC236}">
                    <a16:creationId xmlns:a16="http://schemas.microsoft.com/office/drawing/2014/main" id="{7464A7C7-CDBE-450E-850A-36EC7614B93A}"/>
                  </a:ext>
                </a:extLst>
              </p:cNvPr>
              <p:cNvSpPr/>
              <p:nvPr/>
            </p:nvSpPr>
            <p:spPr>
              <a:xfrm>
                <a:off x="582141" y="1457153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lang="en-US" sz="2000" dirty="0"/>
              </a:p>
            </p:txBody>
          </p:sp>
          <p:sp>
            <p:nvSpPr>
              <p:cNvPr id="47" name="AutoShape 11">
                <a:extLst>
                  <a:ext uri="{FF2B5EF4-FFF2-40B4-BE49-F238E27FC236}">
                    <a16:creationId xmlns:a16="http://schemas.microsoft.com/office/drawing/2014/main" id="{0E04848E-A183-486F-A5B3-9451D74AC6B1}"/>
                  </a:ext>
                </a:extLst>
              </p:cNvPr>
              <p:cNvSpPr/>
              <p:nvPr/>
            </p:nvSpPr>
            <p:spPr>
              <a:xfrm>
                <a:off x="965200" y="1497861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给标签找最高权威背书</a:t>
                </a:r>
                <a:endParaRPr lang="en-US" sz="1800" dirty="0"/>
              </a:p>
            </p:txBody>
          </p:sp>
          <p:sp>
            <p:nvSpPr>
              <p:cNvPr id="48" name="AutoShape 12">
                <a:extLst>
                  <a:ext uri="{FF2B5EF4-FFF2-40B4-BE49-F238E27FC236}">
                    <a16:creationId xmlns:a16="http://schemas.microsoft.com/office/drawing/2014/main" id="{6037EA5E-D3F1-4C30-82CF-2C83E727E4DC}"/>
                  </a:ext>
                </a:extLst>
              </p:cNvPr>
              <p:cNvSpPr/>
              <p:nvPr/>
            </p:nvSpPr>
            <p:spPr>
              <a:xfrm>
                <a:off x="963141" y="1753508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68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个真实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CVE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全部对齐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MITRE CWE v4.20 与 NVD/GHSA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官方描述，修正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11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处映射，标签不靠模型自说自话</a:t>
                </a:r>
                <a:r>
                  <a:rPr lang="en-US" sz="12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74E6CD7-CF53-4325-9B1E-2AB25A5AF920}"/>
                </a:ext>
              </a:extLst>
            </p:cNvPr>
            <p:cNvGrpSpPr/>
            <p:nvPr/>
          </p:nvGrpSpPr>
          <p:grpSpPr>
            <a:xfrm>
              <a:off x="582141" y="2641256"/>
              <a:ext cx="5461000" cy="1005422"/>
              <a:chOff x="582141" y="2641256"/>
              <a:chExt cx="5461000" cy="1005422"/>
            </a:xfrm>
          </p:grpSpPr>
          <p:sp>
            <p:nvSpPr>
              <p:cNvPr id="49" name="AutoShape 13">
                <a:extLst>
                  <a:ext uri="{FF2B5EF4-FFF2-40B4-BE49-F238E27FC236}">
                    <a16:creationId xmlns:a16="http://schemas.microsoft.com/office/drawing/2014/main" id="{AFF40F14-0C41-4365-98E5-D27ABA5B3349}"/>
                  </a:ext>
                </a:extLst>
              </p:cNvPr>
              <p:cNvSpPr/>
              <p:nvPr/>
            </p:nvSpPr>
            <p:spPr>
              <a:xfrm>
                <a:off x="582141" y="2641256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lang="en-US" sz="2000" dirty="0"/>
              </a:p>
            </p:txBody>
          </p:sp>
          <p:sp>
            <p:nvSpPr>
              <p:cNvPr id="50" name="AutoShape 14">
                <a:extLst>
                  <a:ext uri="{FF2B5EF4-FFF2-40B4-BE49-F238E27FC236}">
                    <a16:creationId xmlns:a16="http://schemas.microsoft.com/office/drawing/2014/main" id="{6FAEAA26-9DDD-470F-8F09-C02FC5467AF2}"/>
                  </a:ext>
                </a:extLst>
              </p:cNvPr>
              <p:cNvSpPr/>
              <p:nvPr/>
            </p:nvSpPr>
            <p:spPr>
              <a:xfrm>
                <a:off x="963141" y="2656808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先摸失败模式，再定向补数据</a:t>
                </a:r>
                <a:endParaRPr lang="en-US" sz="1800" dirty="0"/>
              </a:p>
            </p:txBody>
          </p:sp>
          <p:sp>
            <p:nvSpPr>
              <p:cNvPr id="51" name="AutoShape 15">
                <a:extLst>
                  <a:ext uri="{FF2B5EF4-FFF2-40B4-BE49-F238E27FC236}">
                    <a16:creationId xmlns:a16="http://schemas.microsoft.com/office/drawing/2014/main" id="{BDD34F8B-211C-488C-A42D-71F845614F79}"/>
                  </a:ext>
                </a:extLst>
              </p:cNvPr>
              <p:cNvSpPr/>
              <p:nvPr/>
            </p:nvSpPr>
            <p:spPr>
              <a:xfrm>
                <a:off x="963141" y="2951734"/>
                <a:ext cx="50800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归纳 12 种失败模式（F1~F12，来自 α0.5 五轮实拍误报），逐类造语义结构变体定向补数据，而不是无脑堆量。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B4431F57-286D-4598-8D3F-35B462363D67}"/>
                </a:ext>
              </a:extLst>
            </p:cNvPr>
            <p:cNvGrpSpPr/>
            <p:nvPr/>
          </p:nvGrpSpPr>
          <p:grpSpPr>
            <a:xfrm>
              <a:off x="582141" y="3568113"/>
              <a:ext cx="5257800" cy="1003581"/>
              <a:chOff x="582141" y="3568113"/>
              <a:chExt cx="5257800" cy="1003581"/>
            </a:xfrm>
          </p:grpSpPr>
          <p:sp>
            <p:nvSpPr>
              <p:cNvPr id="52" name="AutoShape 16">
                <a:extLst>
                  <a:ext uri="{FF2B5EF4-FFF2-40B4-BE49-F238E27FC236}">
                    <a16:creationId xmlns:a16="http://schemas.microsoft.com/office/drawing/2014/main" id="{7EA2AA07-19C4-4681-9131-A6BF9CDF27B6}"/>
                  </a:ext>
                </a:extLst>
              </p:cNvPr>
              <p:cNvSpPr/>
              <p:nvPr/>
            </p:nvSpPr>
            <p:spPr>
              <a:xfrm>
                <a:off x="582141" y="3568113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lang="en-US" sz="2000" dirty="0"/>
              </a:p>
            </p:txBody>
          </p:sp>
          <p:sp>
            <p:nvSpPr>
              <p:cNvPr id="53" name="AutoShape 17">
                <a:extLst>
                  <a:ext uri="{FF2B5EF4-FFF2-40B4-BE49-F238E27FC236}">
                    <a16:creationId xmlns:a16="http://schemas.microsoft.com/office/drawing/2014/main" id="{F56D63BB-A125-4164-96EC-8EAA32CDF992}"/>
                  </a:ext>
                </a:extLst>
              </p:cNvPr>
              <p:cNvSpPr/>
              <p:nvPr/>
            </p:nvSpPr>
            <p:spPr>
              <a:xfrm>
                <a:off x="963141" y="3591735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审查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AI，防止合谋</a:t>
                </a:r>
                <a:endParaRPr lang="en-US" sz="1800" dirty="0"/>
              </a:p>
            </p:txBody>
          </p:sp>
          <p:sp>
            <p:nvSpPr>
              <p:cNvPr id="54" name="AutoShape 18">
                <a:extLst>
                  <a:ext uri="{FF2B5EF4-FFF2-40B4-BE49-F238E27FC236}">
                    <a16:creationId xmlns:a16="http://schemas.microsoft.com/office/drawing/2014/main" id="{BB401B68-F269-4892-B0E4-E365E3659756}"/>
                  </a:ext>
                </a:extLst>
              </p:cNvPr>
              <p:cNvSpPr/>
              <p:nvPr/>
            </p:nvSpPr>
            <p:spPr>
              <a:xfrm>
                <a:off x="963141" y="3876750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生产模型与审计模型不同家族、双分区隔离；六步审查协议</a:t>
                </a:r>
                <a:r>
                  <a:rPr lang="zh-CN" alt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（可见自制</a:t>
                </a:r>
                <a:r>
                  <a:rPr lang="en-US" alt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prompt.txt</a:t>
                </a:r>
                <a:r>
                  <a:rPr lang="zh-CN" alt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）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；26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种错误类型按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critical/major/minor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分级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  <a:endParaRPr lang="en-US" sz="16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502D547-C523-4612-ABDD-FF1556EC9573}"/>
                </a:ext>
              </a:extLst>
            </p:cNvPr>
            <p:cNvGrpSpPr/>
            <p:nvPr/>
          </p:nvGrpSpPr>
          <p:grpSpPr>
            <a:xfrm>
              <a:off x="597930" y="4732490"/>
              <a:ext cx="5242011" cy="923573"/>
              <a:chOff x="597930" y="4732490"/>
              <a:chExt cx="5242011" cy="923573"/>
            </a:xfrm>
          </p:grpSpPr>
          <p:sp>
            <p:nvSpPr>
              <p:cNvPr id="55" name="AutoShape 19">
                <a:extLst>
                  <a:ext uri="{FF2B5EF4-FFF2-40B4-BE49-F238E27FC236}">
                    <a16:creationId xmlns:a16="http://schemas.microsoft.com/office/drawing/2014/main" id="{D8DAD7ED-A9B0-443D-A6F1-F87FE0F1612F}"/>
                  </a:ext>
                </a:extLst>
              </p:cNvPr>
              <p:cNvSpPr/>
              <p:nvPr/>
            </p:nvSpPr>
            <p:spPr>
              <a:xfrm>
                <a:off x="597930" y="4732490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04</a:t>
                </a:r>
                <a:endParaRPr lang="en-US" sz="2000" dirty="0"/>
              </a:p>
            </p:txBody>
          </p:sp>
          <p:sp>
            <p:nvSpPr>
              <p:cNvPr id="56" name="AutoShape 20">
                <a:extLst>
                  <a:ext uri="{FF2B5EF4-FFF2-40B4-BE49-F238E27FC236}">
                    <a16:creationId xmlns:a16="http://schemas.microsoft.com/office/drawing/2014/main" id="{77935208-A022-4B8E-AF00-CA4CB2DA899A}"/>
                  </a:ext>
                </a:extLst>
              </p:cNvPr>
              <p:cNvSpPr/>
              <p:nvPr/>
            </p:nvSpPr>
            <p:spPr>
              <a:xfrm>
                <a:off x="963141" y="4757919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质量闸门不为产量让路</a:t>
                </a:r>
                <a:endParaRPr lang="en-US" sz="1800" dirty="0"/>
              </a:p>
            </p:txBody>
          </p:sp>
          <p:sp>
            <p:nvSpPr>
              <p:cNvPr id="57" name="AutoShape 21">
                <a:extLst>
                  <a:ext uri="{FF2B5EF4-FFF2-40B4-BE49-F238E27FC236}">
                    <a16:creationId xmlns:a16="http://schemas.microsoft.com/office/drawing/2014/main" id="{FFEB129F-3F82-4F89-A6D1-8153C1178117}"/>
                  </a:ext>
                </a:extLst>
              </p:cNvPr>
              <p:cNvSpPr/>
              <p:nvPr/>
            </p:nvSpPr>
            <p:spPr>
              <a:xfrm>
                <a:off x="963141" y="4961119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v2_0 → v2_15 共 15 个数据审计版本，错误率不达标不进下一轮（最新蒸馏严格门控可见distill_repair_wave.py和repair_wave_common.py），宁缺毋滥。</a:t>
                </a:r>
                <a:endParaRPr lang="en-US" sz="1600" dirty="0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2604844-B1A1-4C81-907E-110C7A5DFC27}"/>
              </a:ext>
            </a:extLst>
          </p:cNvPr>
          <p:cNvGrpSpPr/>
          <p:nvPr/>
        </p:nvGrpSpPr>
        <p:grpSpPr>
          <a:xfrm>
            <a:off x="685800" y="1188822"/>
            <a:ext cx="10820400" cy="270047"/>
            <a:chOff x="685800" y="1188822"/>
            <a:chExt cx="10820400" cy="27004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61DBDF0-0169-46C7-823F-59DE3DE44F48}"/>
                </a:ext>
              </a:extLst>
            </p:cNvPr>
            <p:cNvGrpSpPr/>
            <p:nvPr/>
          </p:nvGrpSpPr>
          <p:grpSpPr>
            <a:xfrm>
              <a:off x="685800" y="1194730"/>
              <a:ext cx="5016500" cy="262423"/>
              <a:chOff x="685800" y="1194730"/>
              <a:chExt cx="5016500" cy="262423"/>
            </a:xfrm>
          </p:grpSpPr>
          <p:sp>
            <p:nvSpPr>
              <p:cNvPr id="44" name="AutoShape 8">
                <a:extLst>
                  <a:ext uri="{FF2B5EF4-FFF2-40B4-BE49-F238E27FC236}">
                    <a16:creationId xmlns:a16="http://schemas.microsoft.com/office/drawing/2014/main" id="{0791B8CE-D296-4198-9088-DFFC4E6DD9FB}"/>
                  </a:ext>
                </a:extLst>
              </p:cNvPr>
              <p:cNvSpPr/>
              <p:nvPr/>
            </p:nvSpPr>
            <p:spPr>
              <a:xfrm>
                <a:off x="685800" y="1228553"/>
                <a:ext cx="50800" cy="2286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DCC64576-7924-48C8-831C-EA7F3BE58468}"/>
                  </a:ext>
                </a:extLst>
              </p:cNvPr>
              <p:cNvSpPr/>
              <p:nvPr/>
            </p:nvSpPr>
            <p:spPr>
              <a:xfrm>
                <a:off x="876300" y="1194730"/>
                <a:ext cx="48260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方法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我们会什么</a:t>
                </a:r>
                <a:endParaRPr lang="en-US" sz="180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0AAE9E1-592E-45D6-B321-07E4BA2DCF2D}"/>
                </a:ext>
              </a:extLst>
            </p:cNvPr>
            <p:cNvGrpSpPr/>
            <p:nvPr/>
          </p:nvGrpSpPr>
          <p:grpSpPr>
            <a:xfrm>
              <a:off x="6286500" y="1188822"/>
              <a:ext cx="5219700" cy="270047"/>
              <a:chOff x="6286500" y="1188822"/>
              <a:chExt cx="5219700" cy="270047"/>
            </a:xfrm>
          </p:grpSpPr>
          <p:sp>
            <p:nvSpPr>
              <p:cNvPr id="58" name="AutoShape 22">
                <a:extLst>
                  <a:ext uri="{FF2B5EF4-FFF2-40B4-BE49-F238E27FC236}">
                    <a16:creationId xmlns:a16="http://schemas.microsoft.com/office/drawing/2014/main" id="{98007851-D02A-4BD3-A085-1010CC05B74C}"/>
                  </a:ext>
                </a:extLst>
              </p:cNvPr>
              <p:cNvSpPr/>
              <p:nvPr/>
            </p:nvSpPr>
            <p:spPr>
              <a:xfrm>
                <a:off x="6286500" y="1230269"/>
                <a:ext cx="50800" cy="228600"/>
              </a:xfrm>
              <a:prstGeom prst="roundRect">
                <a:avLst>
                  <a:gd name="adj" fmla="val 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9" name="AutoShape 23">
                <a:extLst>
                  <a:ext uri="{FF2B5EF4-FFF2-40B4-BE49-F238E27FC236}">
                    <a16:creationId xmlns:a16="http://schemas.microsoft.com/office/drawing/2014/main" id="{BD4B8640-4EA3-4B49-A2EC-B1C02BA99A67}"/>
                  </a:ext>
                </a:extLst>
              </p:cNvPr>
              <p:cNvSpPr/>
              <p:nvPr/>
            </p:nvSpPr>
            <p:spPr>
              <a:xfrm>
                <a:off x="6426200" y="1188822"/>
                <a:ext cx="50800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应对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这些方法解决过什么</a:t>
                </a:r>
                <a:endParaRPr lang="en-US" sz="1800" dirty="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217E96D-52D4-4CD2-8CA0-3862F5525B4A}"/>
              </a:ext>
            </a:extLst>
          </p:cNvPr>
          <p:cNvGrpSpPr/>
          <p:nvPr/>
        </p:nvGrpSpPr>
        <p:grpSpPr>
          <a:xfrm>
            <a:off x="6261100" y="1835149"/>
            <a:ext cx="5295900" cy="4176205"/>
            <a:chOff x="6261100" y="1835149"/>
            <a:chExt cx="5295900" cy="417620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75378E9-CFB6-44F0-A0A5-3FA8A3C84D61}"/>
                </a:ext>
              </a:extLst>
            </p:cNvPr>
            <p:cNvGrpSpPr/>
            <p:nvPr/>
          </p:nvGrpSpPr>
          <p:grpSpPr>
            <a:xfrm>
              <a:off x="6299200" y="1835149"/>
              <a:ext cx="5232400" cy="1235245"/>
              <a:chOff x="6299200" y="1835149"/>
              <a:chExt cx="5232400" cy="1235245"/>
            </a:xfrm>
          </p:grpSpPr>
          <p:sp>
            <p:nvSpPr>
              <p:cNvPr id="60" name="AutoShape 24">
                <a:extLst>
                  <a:ext uri="{FF2B5EF4-FFF2-40B4-BE49-F238E27FC236}">
                    <a16:creationId xmlns:a16="http://schemas.microsoft.com/office/drawing/2014/main" id="{D37E427B-8E4F-42C6-BFB4-921148F789CA}"/>
                  </a:ext>
                </a:extLst>
              </p:cNvPr>
              <p:cNvSpPr/>
              <p:nvPr/>
            </p:nvSpPr>
            <p:spPr>
              <a:xfrm>
                <a:off x="6299200" y="1835149"/>
                <a:ext cx="5232400" cy="1179570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1" name="AutoShape 25">
                <a:extLst>
                  <a:ext uri="{FF2B5EF4-FFF2-40B4-BE49-F238E27FC236}">
                    <a16:creationId xmlns:a16="http://schemas.microsoft.com/office/drawing/2014/main" id="{B9350D49-B441-4EF2-9B3B-0B9DD89D5177}"/>
                  </a:ext>
                </a:extLst>
              </p:cNvPr>
              <p:cNvSpPr/>
              <p:nvPr/>
            </p:nvSpPr>
            <p:spPr>
              <a:xfrm>
                <a:off x="6299200" y="1879600"/>
                <a:ext cx="50800" cy="1117600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2" name="AutoShape 26">
                <a:extLst>
                  <a:ext uri="{FF2B5EF4-FFF2-40B4-BE49-F238E27FC236}">
                    <a16:creationId xmlns:a16="http://schemas.microsoft.com/office/drawing/2014/main" id="{A85EC40B-9D91-46C4-BED7-6720A617A726}"/>
                  </a:ext>
                </a:extLst>
              </p:cNvPr>
              <p:cNvSpPr/>
              <p:nvPr/>
            </p:nvSpPr>
            <p:spPr>
              <a:xfrm>
                <a:off x="6489700" y="1958442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测试集答案两次标错，得出不可靠数据</a:t>
                </a:r>
                <a:endParaRPr lang="en-US" sz="1800" dirty="0"/>
              </a:p>
            </p:txBody>
          </p:sp>
          <p:sp>
            <p:nvSpPr>
              <p:cNvPr id="63" name="AutoShape 27">
                <a:extLst>
                  <a:ext uri="{FF2B5EF4-FFF2-40B4-BE49-F238E27FC236}">
                    <a16:creationId xmlns:a16="http://schemas.microsoft.com/office/drawing/2014/main" id="{B6C32003-D849-4EB4-9BBD-D59CD9624880}"/>
                  </a:ext>
                </a:extLst>
              </p:cNvPr>
              <p:cNvSpPr/>
              <p:nvPr/>
            </p:nvSpPr>
            <p:spPr>
              <a:xfrm>
                <a:off x="6483350" y="2302298"/>
                <a:ext cx="48006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最后一次提交通过官方文档修正了所有测试集答案，能够保证当前所展示出来数据是准确无误的</a:t>
                </a:r>
                <a:endParaRPr lang="en-US" sz="1600" dirty="0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35EFA97-1A14-413A-9F4D-C23D63A3C251}"/>
                </a:ext>
              </a:extLst>
            </p:cNvPr>
            <p:cNvGrpSpPr/>
            <p:nvPr/>
          </p:nvGrpSpPr>
          <p:grpSpPr>
            <a:xfrm>
              <a:off x="6261100" y="3149599"/>
              <a:ext cx="5245100" cy="1381211"/>
              <a:chOff x="6261100" y="3149599"/>
              <a:chExt cx="5245100" cy="1381211"/>
            </a:xfrm>
          </p:grpSpPr>
          <p:sp>
            <p:nvSpPr>
              <p:cNvPr id="64" name="AutoShape 28">
                <a:extLst>
                  <a:ext uri="{FF2B5EF4-FFF2-40B4-BE49-F238E27FC236}">
                    <a16:creationId xmlns:a16="http://schemas.microsoft.com/office/drawing/2014/main" id="{C42F59DE-951E-4BDD-A9A5-EF8D4CD1768B}"/>
                  </a:ext>
                </a:extLst>
              </p:cNvPr>
              <p:cNvSpPr/>
              <p:nvPr/>
            </p:nvSpPr>
            <p:spPr>
              <a:xfrm>
                <a:off x="6261100" y="3149599"/>
                <a:ext cx="5245100" cy="1381211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5" name="AutoShape 29">
                <a:extLst>
                  <a:ext uri="{FF2B5EF4-FFF2-40B4-BE49-F238E27FC236}">
                    <a16:creationId xmlns:a16="http://schemas.microsoft.com/office/drawing/2014/main" id="{45D50CA2-CF7E-4C01-BF14-6158E12602B8}"/>
                  </a:ext>
                </a:extLst>
              </p:cNvPr>
              <p:cNvSpPr/>
              <p:nvPr/>
            </p:nvSpPr>
            <p:spPr>
              <a:xfrm>
                <a:off x="6306065" y="3191256"/>
                <a:ext cx="45719" cy="1339554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6" name="AutoShape 30">
                <a:extLst>
                  <a:ext uri="{FF2B5EF4-FFF2-40B4-BE49-F238E27FC236}">
                    <a16:creationId xmlns:a16="http://schemas.microsoft.com/office/drawing/2014/main" id="{48901019-DA90-4D28-BE91-3B256F9F3DB5}"/>
                  </a:ext>
                </a:extLst>
              </p:cNvPr>
              <p:cNvSpPr/>
              <p:nvPr/>
            </p:nvSpPr>
            <p:spPr>
              <a:xfrm>
                <a:off x="6515100" y="3234989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蒸馏爆炸 → 三次清洗 → 定向蒸馏 → 六步审查</a:t>
                </a:r>
                <a:endParaRPr lang="en-US" sz="1800" dirty="0"/>
              </a:p>
            </p:txBody>
          </p:sp>
          <p:sp>
            <p:nvSpPr>
              <p:cNvPr id="67" name="AutoShape 31">
                <a:extLst>
                  <a:ext uri="{FF2B5EF4-FFF2-40B4-BE49-F238E27FC236}">
                    <a16:creationId xmlns:a16="http://schemas.microsoft.com/office/drawing/2014/main" id="{6497701B-0824-4778-BADB-B373BE42C410}"/>
                  </a:ext>
                </a:extLst>
              </p:cNvPr>
              <p:cNvSpPr/>
              <p:nvPr/>
            </p:nvSpPr>
            <p:spPr>
              <a:xfrm>
                <a:off x="6489700" y="3590588"/>
                <a:ext cx="49784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数据层链路得到完整闭环——此前审计不够深时，硬标标签、自相矛盾的“毒样本”曾让多轮训练效果奇差；v2_9 与 v2_11 共剔除 17 条后已较好解决。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4FDFC31-D9B2-4F67-99A3-1F3FB7BE96FA}"/>
                </a:ext>
              </a:extLst>
            </p:cNvPr>
            <p:cNvGrpSpPr/>
            <p:nvPr/>
          </p:nvGrpSpPr>
          <p:grpSpPr>
            <a:xfrm>
              <a:off x="6306065" y="4777414"/>
              <a:ext cx="5250935" cy="1233940"/>
              <a:chOff x="6306065" y="4777414"/>
              <a:chExt cx="5250935" cy="1233940"/>
            </a:xfrm>
          </p:grpSpPr>
          <p:sp>
            <p:nvSpPr>
              <p:cNvPr id="68" name="AutoShape 32">
                <a:extLst>
                  <a:ext uri="{FF2B5EF4-FFF2-40B4-BE49-F238E27FC236}">
                    <a16:creationId xmlns:a16="http://schemas.microsoft.com/office/drawing/2014/main" id="{FFEEB5F5-34C6-434C-9666-BB321CE4885A}"/>
                  </a:ext>
                </a:extLst>
              </p:cNvPr>
              <p:cNvSpPr/>
              <p:nvPr/>
            </p:nvSpPr>
            <p:spPr>
              <a:xfrm>
                <a:off x="6324600" y="4898764"/>
                <a:ext cx="5232400" cy="1112590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9" name="AutoShape 33">
                <a:extLst>
                  <a:ext uri="{FF2B5EF4-FFF2-40B4-BE49-F238E27FC236}">
                    <a16:creationId xmlns:a16="http://schemas.microsoft.com/office/drawing/2014/main" id="{7296D750-118D-4AAD-BAE8-B788348F678A}"/>
                  </a:ext>
                </a:extLst>
              </p:cNvPr>
              <p:cNvSpPr/>
              <p:nvPr/>
            </p:nvSpPr>
            <p:spPr>
              <a:xfrm>
                <a:off x="6306065" y="4777414"/>
                <a:ext cx="45719" cy="1233940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0" name="AutoShape 34">
                <a:extLst>
                  <a:ext uri="{FF2B5EF4-FFF2-40B4-BE49-F238E27FC236}">
                    <a16:creationId xmlns:a16="http://schemas.microsoft.com/office/drawing/2014/main" id="{F046B83A-A8AC-4B01-89BC-D1EC8F593C2B}"/>
                  </a:ext>
                </a:extLst>
              </p:cNvPr>
              <p:cNvSpPr/>
              <p:nvPr/>
            </p:nvSpPr>
            <p:spPr>
              <a:xfrm>
                <a:off x="6489700" y="4777414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6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经过官方文档得知数据类型分布的合理状况</a:t>
                </a:r>
                <a:endParaRPr lang="en-US" sz="1100" dirty="0"/>
              </a:p>
            </p:txBody>
          </p:sp>
          <p:sp>
            <p:nvSpPr>
              <p:cNvPr id="71" name="AutoShape 35">
                <a:extLst>
                  <a:ext uri="{FF2B5EF4-FFF2-40B4-BE49-F238E27FC236}">
                    <a16:creationId xmlns:a16="http://schemas.microsoft.com/office/drawing/2014/main" id="{FB00B42F-F628-4D20-94E6-8DA3EE873B57}"/>
                  </a:ext>
                </a:extLst>
              </p:cNvPr>
              <p:cNvSpPr/>
              <p:nvPr/>
            </p:nvSpPr>
            <p:spPr>
              <a:xfrm>
                <a:off x="6489700" y="5095850"/>
                <a:ext cx="48006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由于某些类型漏洞变体本身就少，或者就是某一个大类下的子类，因此不能严格要求每个类型都蒸馏出数量对等的样本</a:t>
                </a:r>
                <a:endParaRPr lang="en-US" sz="1600" dirty="0"/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F846095-DA74-44A4-AE49-8DA626009F05}"/>
              </a:ext>
            </a:extLst>
          </p:cNvPr>
          <p:cNvGrpSpPr/>
          <p:nvPr/>
        </p:nvGrpSpPr>
        <p:grpSpPr>
          <a:xfrm>
            <a:off x="705022" y="6086170"/>
            <a:ext cx="10851978" cy="771830"/>
            <a:chOff x="705022" y="6086170"/>
            <a:chExt cx="10851978" cy="771830"/>
          </a:xfrm>
        </p:grpSpPr>
        <p:sp>
          <p:nvSpPr>
            <p:cNvPr id="72" name="AutoShape 36">
              <a:extLst>
                <a:ext uri="{FF2B5EF4-FFF2-40B4-BE49-F238E27FC236}">
                  <a16:creationId xmlns:a16="http://schemas.microsoft.com/office/drawing/2014/main" id="{77FDC39D-EA0F-4EF7-B83C-7BFD87FB4E06}"/>
                </a:ext>
              </a:extLst>
            </p:cNvPr>
            <p:cNvSpPr/>
            <p:nvPr/>
          </p:nvSpPr>
          <p:spPr>
            <a:xfrm>
              <a:off x="736600" y="6315456"/>
              <a:ext cx="10820400" cy="504444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37">
              <a:extLst>
                <a:ext uri="{FF2B5EF4-FFF2-40B4-BE49-F238E27FC236}">
                  <a16:creationId xmlns:a16="http://schemas.microsoft.com/office/drawing/2014/main" id="{BE50F189-4E5E-4DC6-AD07-512E01B0EAD0}"/>
                </a:ext>
              </a:extLst>
            </p:cNvPr>
            <p:cNvSpPr/>
            <p:nvPr/>
          </p:nvSpPr>
          <p:spPr>
            <a:xfrm>
              <a:off x="705022" y="61214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4" name="AutoShape 38">
              <a:extLst>
                <a:ext uri="{FF2B5EF4-FFF2-40B4-BE49-F238E27FC236}">
                  <a16:creationId xmlns:a16="http://schemas.microsoft.com/office/drawing/2014/main" id="{1CD93388-184C-418A-AB02-5CBC3D73A5CF}"/>
                </a:ext>
              </a:extLst>
            </p:cNvPr>
            <p:cNvSpPr/>
            <p:nvPr/>
          </p:nvSpPr>
          <p:spPr>
            <a:xfrm>
              <a:off x="838200" y="6086170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IRON RULE · </a:t>
              </a: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铁律</a:t>
              </a:r>
              <a:endParaRPr lang="en-US" sz="1600" dirty="0"/>
            </a:p>
          </p:txBody>
        </p:sp>
        <p:sp>
          <p:nvSpPr>
            <p:cNvPr id="75" name="AutoShape 39">
              <a:extLst>
                <a:ext uri="{FF2B5EF4-FFF2-40B4-BE49-F238E27FC236}">
                  <a16:creationId xmlns:a16="http://schemas.microsoft.com/office/drawing/2014/main" id="{771E93C1-8F51-4E70-A24E-B3BC6105BDC8}"/>
                </a:ext>
              </a:extLst>
            </p:cNvPr>
            <p:cNvSpPr/>
            <p:nvPr/>
          </p:nvSpPr>
          <p:spPr>
            <a:xfrm>
              <a:off x="931562" y="6431795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先问“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数据对不对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”，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再问“模型强不强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”——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数据可信度是一切指标的前提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F068062D-FB71-43EF-B511-F72F0D3E9C7D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26F06C10-BB33-41A1-9A9B-F7813C62FBD7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二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训练层：先判任务需要什么能力，再决定怎么训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6EFF2B0C-9B30-470B-A0A4-E1F026860C07}"/>
              </a:ext>
            </a:extLst>
          </p:cNvPr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660C8F39-3CCC-4A59-BC8B-271724E6B92C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843A3F3-9BE2-4D7A-AAE9-7B258C47DDF2}"/>
              </a:ext>
            </a:extLst>
          </p:cNvPr>
          <p:cNvGrpSpPr/>
          <p:nvPr/>
        </p:nvGrpSpPr>
        <p:grpSpPr>
          <a:xfrm>
            <a:off x="671384" y="1583238"/>
            <a:ext cx="5475416" cy="4542073"/>
            <a:chOff x="671384" y="1583238"/>
            <a:chExt cx="5475416" cy="4542073"/>
          </a:xfrm>
        </p:grpSpPr>
        <p:sp>
          <p:nvSpPr>
            <p:cNvPr id="46" name="AutoShape 10">
              <a:extLst>
                <a:ext uri="{FF2B5EF4-FFF2-40B4-BE49-F238E27FC236}">
                  <a16:creationId xmlns:a16="http://schemas.microsoft.com/office/drawing/2014/main" id="{2083354D-70B6-488F-99B6-15FAF672BD75}"/>
                </a:ext>
              </a:extLst>
            </p:cNvPr>
            <p:cNvSpPr/>
            <p:nvPr/>
          </p:nvSpPr>
          <p:spPr>
            <a:xfrm>
              <a:off x="696784" y="1583238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1800" dirty="0"/>
            </a:p>
          </p:txBody>
        </p:sp>
        <p:sp>
          <p:nvSpPr>
            <p:cNvPr id="47" name="AutoShape 11">
              <a:extLst>
                <a:ext uri="{FF2B5EF4-FFF2-40B4-BE49-F238E27FC236}">
                  <a16:creationId xmlns:a16="http://schemas.microsoft.com/office/drawing/2014/main" id="{0F5A9D51-37A9-4798-8F35-A630E8650B8D}"/>
                </a:ext>
              </a:extLst>
            </p:cNvPr>
            <p:cNvSpPr/>
            <p:nvPr/>
          </p:nvSpPr>
          <p:spPr>
            <a:xfrm>
              <a:off x="1143000" y="159784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任务-能力匹配分析</a:t>
              </a:r>
              <a:endParaRPr lang="en-US" sz="1800" dirty="0"/>
            </a:p>
          </p:txBody>
        </p:sp>
        <p:sp>
          <p:nvSpPr>
            <p:cNvPr id="48" name="AutoShape 12">
              <a:extLst>
                <a:ext uri="{FF2B5EF4-FFF2-40B4-BE49-F238E27FC236}">
                  <a16:creationId xmlns:a16="http://schemas.microsoft.com/office/drawing/2014/main" id="{B78144D0-3DA4-4A3C-92E4-EEEB5317E3A4}"/>
                </a:ext>
              </a:extLst>
            </p:cNvPr>
            <p:cNvSpPr/>
            <p:nvPr/>
          </p:nvSpPr>
          <p:spPr>
            <a:xfrm>
              <a:off x="1077784" y="1902118"/>
              <a:ext cx="4942016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格式遵循靠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SFT、知识靠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RAG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检索、判别靠证据约束、偏好靠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DPO/GRPO——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不迷信“继续训练解决一切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</a:t>
              </a:r>
              <a:endParaRPr lang="en-US" sz="1600" dirty="0"/>
            </a:p>
          </p:txBody>
        </p:sp>
        <p:sp>
          <p:nvSpPr>
            <p:cNvPr id="49" name="AutoShape 13">
              <a:extLst>
                <a:ext uri="{FF2B5EF4-FFF2-40B4-BE49-F238E27FC236}">
                  <a16:creationId xmlns:a16="http://schemas.microsoft.com/office/drawing/2014/main" id="{0B370862-133E-4250-9FC9-ED1E59009EE0}"/>
                </a:ext>
              </a:extLst>
            </p:cNvPr>
            <p:cNvSpPr/>
            <p:nvPr/>
          </p:nvSpPr>
          <p:spPr>
            <a:xfrm>
              <a:off x="685800" y="2543048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1800" dirty="0"/>
            </a:p>
          </p:txBody>
        </p:sp>
        <p:sp>
          <p:nvSpPr>
            <p:cNvPr id="50" name="AutoShape 14">
              <a:extLst>
                <a:ext uri="{FF2B5EF4-FFF2-40B4-BE49-F238E27FC236}">
                  <a16:creationId xmlns:a16="http://schemas.microsoft.com/office/drawing/2014/main" id="{B5917A91-D3C4-44E3-A97E-EDDEB4055043}"/>
                </a:ext>
              </a:extLst>
            </p:cNvPr>
            <p:cNvSpPr/>
            <p:nvPr/>
          </p:nvSpPr>
          <p:spPr>
            <a:xfrm>
              <a:off x="1143000" y="2562847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分得清能训什么、不能硬训什么</a:t>
              </a:r>
              <a:endParaRPr lang="en-US" sz="1800" dirty="0"/>
            </a:p>
          </p:txBody>
        </p:sp>
        <p:sp>
          <p:nvSpPr>
            <p:cNvPr id="51" name="AutoShape 15">
              <a:extLst>
                <a:ext uri="{FF2B5EF4-FFF2-40B4-BE49-F238E27FC236}">
                  <a16:creationId xmlns:a16="http://schemas.microsoft.com/office/drawing/2014/main" id="{B2905753-FBD3-46E5-8A18-A36C51F677A6}"/>
                </a:ext>
              </a:extLst>
            </p:cNvPr>
            <p:cNvSpPr/>
            <p:nvPr/>
          </p:nvSpPr>
          <p:spPr>
            <a:xfrm>
              <a:off x="1077784" y="2867119"/>
              <a:ext cx="5069016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CPT 两次过山车：第一次 strict 41%→63.9%，后发现是语料泄题；第二次宽松准确率 90%→80%、幻觉出</a:t>
              </a: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参数化查询——</a:t>
              </a: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知识注入负迁移，果断放弃，不沉没成本。</a:t>
              </a:r>
            </a:p>
          </p:txBody>
        </p:sp>
        <p:sp>
          <p:nvSpPr>
            <p:cNvPr id="52" name="AutoShape 16">
              <a:extLst>
                <a:ext uri="{FF2B5EF4-FFF2-40B4-BE49-F238E27FC236}">
                  <a16:creationId xmlns:a16="http://schemas.microsoft.com/office/drawing/2014/main" id="{46928538-FCE3-45B1-B417-32A9583CC41A}"/>
                </a:ext>
              </a:extLst>
            </p:cNvPr>
            <p:cNvSpPr/>
            <p:nvPr/>
          </p:nvSpPr>
          <p:spPr>
            <a:xfrm>
              <a:off x="685800" y="3844863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1800" dirty="0"/>
            </a:p>
          </p:txBody>
        </p:sp>
        <p:sp>
          <p:nvSpPr>
            <p:cNvPr id="53" name="AutoShape 17">
              <a:extLst>
                <a:ext uri="{FF2B5EF4-FFF2-40B4-BE49-F238E27FC236}">
                  <a16:creationId xmlns:a16="http://schemas.microsoft.com/office/drawing/2014/main" id="{D8938195-9FAC-4D22-B38B-9CA1441C83CA}"/>
                </a:ext>
              </a:extLst>
            </p:cNvPr>
            <p:cNvSpPr/>
            <p:nvPr/>
          </p:nvSpPr>
          <p:spPr>
            <a:xfrm>
              <a:off x="1168400" y="3866335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为泛化设计数据</a:t>
              </a:r>
              <a:endParaRPr lang="en-US" sz="1800" dirty="0"/>
            </a:p>
          </p:txBody>
        </p:sp>
        <p:sp>
          <p:nvSpPr>
            <p:cNvPr id="54" name="AutoShape 18">
              <a:extLst>
                <a:ext uri="{FF2B5EF4-FFF2-40B4-BE49-F238E27FC236}">
                  <a16:creationId xmlns:a16="http://schemas.microsoft.com/office/drawing/2014/main" id="{C0CA82FF-C45B-4431-92B9-52C8E02BF3EF}"/>
                </a:ext>
              </a:extLst>
            </p:cNvPr>
            <p:cNvSpPr/>
            <p:nvPr/>
          </p:nvSpPr>
          <p:spPr>
            <a:xfrm>
              <a:off x="1077784" y="4200249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变体造在语义结构上：换框架习语、跨语言重写（5 源语言 × 4 目标栈）、跨文件污点组、信任边界 minimal pair；代码铁律禁止只改变量名的表面改写</a:t>
              </a:r>
              <a:r>
                <a:rPr lang="zh-CN" sz="12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</a:p>
          </p:txBody>
        </p:sp>
        <p:sp>
          <p:nvSpPr>
            <p:cNvPr id="55" name="AutoShape 19">
              <a:extLst>
                <a:ext uri="{FF2B5EF4-FFF2-40B4-BE49-F238E27FC236}">
                  <a16:creationId xmlns:a16="http://schemas.microsoft.com/office/drawing/2014/main" id="{AAFFFA25-FE08-48BF-908E-AD2ABE00B353}"/>
                </a:ext>
              </a:extLst>
            </p:cNvPr>
            <p:cNvSpPr/>
            <p:nvPr/>
          </p:nvSpPr>
          <p:spPr>
            <a:xfrm>
              <a:off x="671384" y="5110525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1800" dirty="0"/>
            </a:p>
          </p:txBody>
        </p:sp>
        <p:sp>
          <p:nvSpPr>
            <p:cNvPr id="56" name="AutoShape 20">
              <a:extLst>
                <a:ext uri="{FF2B5EF4-FFF2-40B4-BE49-F238E27FC236}">
                  <a16:creationId xmlns:a16="http://schemas.microsoft.com/office/drawing/2014/main" id="{E4D4C07E-897F-4D17-A5A8-A4D125D2C1FF}"/>
                </a:ext>
              </a:extLst>
            </p:cNvPr>
            <p:cNvSpPr/>
            <p:nvPr/>
          </p:nvSpPr>
          <p:spPr>
            <a:xfrm>
              <a:off x="1143000" y="5118022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单变量控制</a:t>
              </a:r>
              <a:endParaRPr lang="en-US" sz="1800" dirty="0"/>
            </a:p>
          </p:txBody>
        </p:sp>
        <p:sp>
          <p:nvSpPr>
            <p:cNvPr id="57" name="AutoShape 21">
              <a:extLst>
                <a:ext uri="{FF2B5EF4-FFF2-40B4-BE49-F238E27FC236}">
                  <a16:creationId xmlns:a16="http://schemas.microsoft.com/office/drawing/2014/main" id="{8D88EF2E-3892-413E-87D7-52753E6267F2}"/>
                </a:ext>
              </a:extLst>
            </p:cNvPr>
            <p:cNvSpPr/>
            <p:nvPr/>
          </p:nvSpPr>
          <p:spPr>
            <a:xfrm>
              <a:off x="1062681" y="5430367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每轮只动一个变量，效果才可归因、失败才可定位，多个变量一起动等于没做实验</a:t>
              </a:r>
              <a:r>
                <a:rPr lang="en-US" sz="12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93694F5-637F-4968-BED0-75939D421D2F}"/>
              </a:ext>
            </a:extLst>
          </p:cNvPr>
          <p:cNvGrpSpPr/>
          <p:nvPr/>
        </p:nvGrpSpPr>
        <p:grpSpPr>
          <a:xfrm>
            <a:off x="696784" y="1225963"/>
            <a:ext cx="10809416" cy="263064"/>
            <a:chOff x="696784" y="1225963"/>
            <a:chExt cx="10809416" cy="263064"/>
          </a:xfrm>
        </p:grpSpPr>
        <p:sp>
          <p:nvSpPr>
            <p:cNvPr id="44" name="AutoShape 8">
              <a:extLst>
                <a:ext uri="{FF2B5EF4-FFF2-40B4-BE49-F238E27FC236}">
                  <a16:creationId xmlns:a16="http://schemas.microsoft.com/office/drawing/2014/main" id="{B8C69FEF-BC39-4223-80A7-E18C72B43C48}"/>
                </a:ext>
              </a:extLst>
            </p:cNvPr>
            <p:cNvSpPr/>
            <p:nvPr/>
          </p:nvSpPr>
          <p:spPr>
            <a:xfrm>
              <a:off x="696784" y="126042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9">
              <a:extLst>
                <a:ext uri="{FF2B5EF4-FFF2-40B4-BE49-F238E27FC236}">
                  <a16:creationId xmlns:a16="http://schemas.microsoft.com/office/drawing/2014/main" id="{F090E035-2B12-401A-A3EB-D430E8FB6D88}"/>
                </a:ext>
              </a:extLst>
            </p:cNvPr>
            <p:cNvSpPr/>
            <p:nvPr/>
          </p:nvSpPr>
          <p:spPr>
            <a:xfrm>
              <a:off x="876300" y="1227953"/>
              <a:ext cx="4826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方法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我们会什么</a:t>
              </a:r>
              <a:endParaRPr lang="en-US" sz="1800" dirty="0"/>
            </a:p>
          </p:txBody>
        </p:sp>
        <p:sp>
          <p:nvSpPr>
            <p:cNvPr id="58" name="AutoShape 22">
              <a:extLst>
                <a:ext uri="{FF2B5EF4-FFF2-40B4-BE49-F238E27FC236}">
                  <a16:creationId xmlns:a16="http://schemas.microsoft.com/office/drawing/2014/main" id="{AA1127E5-394E-4896-9554-4D8E061C8BAD}"/>
                </a:ext>
              </a:extLst>
            </p:cNvPr>
            <p:cNvSpPr/>
            <p:nvPr/>
          </p:nvSpPr>
          <p:spPr>
            <a:xfrm>
              <a:off x="6299200" y="1255311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9" name="AutoShape 23">
              <a:extLst>
                <a:ext uri="{FF2B5EF4-FFF2-40B4-BE49-F238E27FC236}">
                  <a16:creationId xmlns:a16="http://schemas.microsoft.com/office/drawing/2014/main" id="{64071192-1E1F-4D8B-81C1-591C24662FD8}"/>
                </a:ext>
              </a:extLst>
            </p:cNvPr>
            <p:cNvSpPr/>
            <p:nvPr/>
          </p:nvSpPr>
          <p:spPr>
            <a:xfrm>
              <a:off x="6426200" y="1225963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应对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这些方法解决过什么</a:t>
              </a:r>
              <a:endParaRPr lang="en-US" sz="1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EC178AF-FA25-49EB-A4D0-DF8515692E4F}"/>
              </a:ext>
            </a:extLst>
          </p:cNvPr>
          <p:cNvGrpSpPr/>
          <p:nvPr/>
        </p:nvGrpSpPr>
        <p:grpSpPr>
          <a:xfrm>
            <a:off x="6299200" y="1858806"/>
            <a:ext cx="5207000" cy="3833040"/>
            <a:chOff x="6299200" y="1858806"/>
            <a:chExt cx="5207000" cy="3833040"/>
          </a:xfrm>
        </p:grpSpPr>
        <p:sp>
          <p:nvSpPr>
            <p:cNvPr id="60" name="AutoShape 24">
              <a:extLst>
                <a:ext uri="{FF2B5EF4-FFF2-40B4-BE49-F238E27FC236}">
                  <a16:creationId xmlns:a16="http://schemas.microsoft.com/office/drawing/2014/main" id="{A1C77521-246D-4C1A-AAA2-077CFC89F15D}"/>
                </a:ext>
              </a:extLst>
            </p:cNvPr>
            <p:cNvSpPr/>
            <p:nvPr/>
          </p:nvSpPr>
          <p:spPr>
            <a:xfrm>
              <a:off x="6299200" y="187960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1" name="AutoShape 25">
              <a:extLst>
                <a:ext uri="{FF2B5EF4-FFF2-40B4-BE49-F238E27FC236}">
                  <a16:creationId xmlns:a16="http://schemas.microsoft.com/office/drawing/2014/main" id="{ECC60109-FE45-4EE6-A70F-1999EFF10E13}"/>
                </a:ext>
              </a:extLst>
            </p:cNvPr>
            <p:cNvSpPr/>
            <p:nvPr/>
          </p:nvSpPr>
          <p:spPr>
            <a:xfrm>
              <a:off x="6299200" y="187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2" name="AutoShape 26">
              <a:extLst>
                <a:ext uri="{FF2B5EF4-FFF2-40B4-BE49-F238E27FC236}">
                  <a16:creationId xmlns:a16="http://schemas.microsoft.com/office/drawing/2014/main" id="{29F27403-27C9-4550-A54D-A52818965F1A}"/>
                </a:ext>
              </a:extLst>
            </p:cNvPr>
            <p:cNvSpPr/>
            <p:nvPr/>
          </p:nvSpPr>
          <p:spPr>
            <a:xfrm>
              <a:off x="6527800" y="185880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零样本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SFT：什么真的涨了</a:t>
              </a:r>
              <a:endParaRPr lang="en-US" sz="1800" dirty="0"/>
            </a:p>
          </p:txBody>
        </p:sp>
        <p:sp>
          <p:nvSpPr>
            <p:cNvPr id="63" name="AutoShape 27">
              <a:extLst>
                <a:ext uri="{FF2B5EF4-FFF2-40B4-BE49-F238E27FC236}">
                  <a16:creationId xmlns:a16="http://schemas.microsoft.com/office/drawing/2014/main" id="{9799D631-DFE5-4199-9EAD-6B2490B7B771}"/>
                </a:ext>
              </a:extLst>
            </p:cNvPr>
            <p:cNvSpPr/>
            <p:nvPr/>
          </p:nvSpPr>
          <p:spPr>
            <a:xfrm>
              <a:off x="6502400" y="2145555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qwen3-8b 零样本 CVE-fix 召回 0.375（8 段早期集），SFT 后 α0.5 达 0.850（20 段扩展集）——格式与判别确实可训。</a:t>
              </a:r>
            </a:p>
          </p:txBody>
        </p:sp>
        <p:sp>
          <p:nvSpPr>
            <p:cNvPr id="64" name="AutoShape 28">
              <a:extLst>
                <a:ext uri="{FF2B5EF4-FFF2-40B4-BE49-F238E27FC236}">
                  <a16:creationId xmlns:a16="http://schemas.microsoft.com/office/drawing/2014/main" id="{E7F4A044-2906-434D-820F-99499EE16A12}"/>
                </a:ext>
              </a:extLst>
            </p:cNvPr>
            <p:cNvSpPr/>
            <p:nvPr/>
          </p:nvSpPr>
          <p:spPr>
            <a:xfrm>
              <a:off x="6299200" y="316402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5" name="AutoShape 29">
              <a:extLst>
                <a:ext uri="{FF2B5EF4-FFF2-40B4-BE49-F238E27FC236}">
                  <a16:creationId xmlns:a16="http://schemas.microsoft.com/office/drawing/2014/main" id="{FD30964D-D100-490A-B69F-9FBB3B5DC253}"/>
                </a:ext>
              </a:extLst>
            </p:cNvPr>
            <p:cNvSpPr/>
            <p:nvPr/>
          </p:nvSpPr>
          <p:spPr>
            <a:xfrm>
              <a:off x="6299200" y="314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6" name="AutoShape 30">
              <a:extLst>
                <a:ext uri="{FF2B5EF4-FFF2-40B4-BE49-F238E27FC236}">
                  <a16:creationId xmlns:a16="http://schemas.microsoft.com/office/drawing/2014/main" id="{BD0112D0-D9FB-4879-9A6C-455969F74FAF}"/>
                </a:ext>
              </a:extLst>
            </p:cNvPr>
            <p:cNvSpPr/>
            <p:nvPr/>
          </p:nvSpPr>
          <p:spPr>
            <a:xfrm>
              <a:off x="6527800" y="3158828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strict/micro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不涨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归给架构</a:t>
              </a:r>
              <a:endParaRPr lang="en-US" sz="1800" dirty="0"/>
            </a:p>
          </p:txBody>
        </p:sp>
        <p:sp>
          <p:nvSpPr>
            <p:cNvPr id="67" name="AutoShape 31">
              <a:extLst>
                <a:ext uri="{FF2B5EF4-FFF2-40B4-BE49-F238E27FC236}">
                  <a16:creationId xmlns:a16="http://schemas.microsoft.com/office/drawing/2014/main" id="{68AB8A1D-3A03-47B9-82E6-2B58649AC39F}"/>
                </a:ext>
              </a:extLst>
            </p:cNvPr>
            <p:cNvSpPr/>
            <p:nvPr/>
          </p:nvSpPr>
          <p:spPr>
            <a:xfrm>
              <a:off x="6527800" y="3546935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继续训练不涨严格归因，判断是架构问题而非模型问题，由两阶段与信任层补齐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68" name="AutoShape 32">
              <a:extLst>
                <a:ext uri="{FF2B5EF4-FFF2-40B4-BE49-F238E27FC236}">
                  <a16:creationId xmlns:a16="http://schemas.microsoft.com/office/drawing/2014/main" id="{FE9E8591-905F-4AF5-BDA2-7FB0C32F7895}"/>
                </a:ext>
              </a:extLst>
            </p:cNvPr>
            <p:cNvSpPr/>
            <p:nvPr/>
          </p:nvSpPr>
          <p:spPr>
            <a:xfrm>
              <a:off x="6299200" y="4419600"/>
              <a:ext cx="5207000" cy="1272246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9" name="AutoShape 33">
              <a:extLst>
                <a:ext uri="{FF2B5EF4-FFF2-40B4-BE49-F238E27FC236}">
                  <a16:creationId xmlns:a16="http://schemas.microsoft.com/office/drawing/2014/main" id="{D1531F10-40D0-42DF-A9A9-BF856490C02F}"/>
                </a:ext>
              </a:extLst>
            </p:cNvPr>
            <p:cNvSpPr/>
            <p:nvPr/>
          </p:nvSpPr>
          <p:spPr>
            <a:xfrm>
              <a:off x="6299200" y="4419600"/>
              <a:ext cx="45719" cy="1272246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0" name="AutoShape 34">
              <a:extLst>
                <a:ext uri="{FF2B5EF4-FFF2-40B4-BE49-F238E27FC236}">
                  <a16:creationId xmlns:a16="http://schemas.microsoft.com/office/drawing/2014/main" id="{0C62E13A-25BB-4CB6-8DDB-5714F8484277}"/>
                </a:ext>
              </a:extLst>
            </p:cNvPr>
            <p:cNvSpPr/>
            <p:nvPr/>
          </p:nvSpPr>
          <p:spPr>
            <a:xfrm>
              <a:off x="6527800" y="4432633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偏好优化失败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双轨策略</a:t>
              </a:r>
              <a:endParaRPr lang="en-US" sz="1800" dirty="0"/>
            </a:p>
          </p:txBody>
        </p:sp>
        <p:sp>
          <p:nvSpPr>
            <p:cNvPr id="71" name="AutoShape 35">
              <a:extLst>
                <a:ext uri="{FF2B5EF4-FFF2-40B4-BE49-F238E27FC236}">
                  <a16:creationId xmlns:a16="http://schemas.microsoft.com/office/drawing/2014/main" id="{C88385E5-BEC1-4AC7-8E68-BE71F8226A09}"/>
                </a:ext>
              </a:extLst>
            </p:cNvPr>
            <p:cNvSpPr/>
            <p:nvPr/>
          </p:nvSpPr>
          <p:spPr>
            <a:xfrm>
              <a:off x="6527800" y="4726477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本地三次失败（8bit OOM 黑屏、fp16 OOM、4bit grad_norm=0）后划清 16GB 硬件边界：本地验证方法、云端放大训练；104 对偏好数据保留待云端。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AB6B7AA-3BD5-403D-97AF-2895E123DCD5}"/>
              </a:ext>
            </a:extLst>
          </p:cNvPr>
          <p:cNvGrpSpPr/>
          <p:nvPr/>
        </p:nvGrpSpPr>
        <p:grpSpPr>
          <a:xfrm>
            <a:off x="671384" y="6121400"/>
            <a:ext cx="10871200" cy="736600"/>
            <a:chOff x="671384" y="6121400"/>
            <a:chExt cx="10871200" cy="736600"/>
          </a:xfrm>
        </p:grpSpPr>
        <p:sp>
          <p:nvSpPr>
            <p:cNvPr id="72" name="AutoShape 36">
              <a:extLst>
                <a:ext uri="{FF2B5EF4-FFF2-40B4-BE49-F238E27FC236}">
                  <a16:creationId xmlns:a16="http://schemas.microsoft.com/office/drawing/2014/main" id="{C4CE657C-70D1-451F-8F47-09B8C7411676}"/>
                </a:ext>
              </a:extLst>
            </p:cNvPr>
            <p:cNvSpPr/>
            <p:nvPr/>
          </p:nvSpPr>
          <p:spPr>
            <a:xfrm>
              <a:off x="722184" y="6375243"/>
              <a:ext cx="10820400" cy="476895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37">
              <a:extLst>
                <a:ext uri="{FF2B5EF4-FFF2-40B4-BE49-F238E27FC236}">
                  <a16:creationId xmlns:a16="http://schemas.microsoft.com/office/drawing/2014/main" id="{C3241910-5BC6-44B7-8835-69E7893D65AF}"/>
                </a:ext>
              </a:extLst>
            </p:cNvPr>
            <p:cNvSpPr/>
            <p:nvPr/>
          </p:nvSpPr>
          <p:spPr>
            <a:xfrm>
              <a:off x="671384" y="61214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4" name="AutoShape 38">
              <a:extLst>
                <a:ext uri="{FF2B5EF4-FFF2-40B4-BE49-F238E27FC236}">
                  <a16:creationId xmlns:a16="http://schemas.microsoft.com/office/drawing/2014/main" id="{49403722-C46C-4E64-A2C1-D299891B878F}"/>
                </a:ext>
              </a:extLst>
            </p:cNvPr>
            <p:cNvSpPr/>
            <p:nvPr/>
          </p:nvSpPr>
          <p:spPr>
            <a:xfrm>
              <a:off x="889000" y="6173097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CORE PRINCIPLE</a:t>
              </a:r>
              <a:endParaRPr lang="en-US" sz="1100" dirty="0"/>
            </a:p>
          </p:txBody>
        </p:sp>
        <p:sp>
          <p:nvSpPr>
            <p:cNvPr id="75" name="AutoShape 39">
              <a:extLst>
                <a:ext uri="{FF2B5EF4-FFF2-40B4-BE49-F238E27FC236}">
                  <a16:creationId xmlns:a16="http://schemas.microsoft.com/office/drawing/2014/main" id="{79D919FC-5194-40C4-9181-A37F3207A685}"/>
                </a:ext>
              </a:extLst>
            </p:cNvPr>
            <p:cNvSpPr/>
            <p:nvPr/>
          </p:nvSpPr>
          <p:spPr>
            <a:xfrm>
              <a:off x="914400" y="6467699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知道“不训什么”和知道“训什么”同样重要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——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训练不是堆参数，是匹配任务与能力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711C52AE-AAD1-4EBF-B2AB-3321008E24A0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我们的价值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912D8BA8-F626-4438-84DB-B1B880658650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实验层：设计能证伪自己的实验，把失败沉淀成制度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5DD61C15-C4E9-4748-990E-997DAFD4A6A8}"/>
              </a:ext>
            </a:extLst>
          </p:cNvPr>
          <p:cNvSpPr/>
          <p:nvPr/>
        </p:nvSpPr>
        <p:spPr>
          <a:xfrm>
            <a:off x="697127" y="101943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E18F8840-FDA3-4888-9C92-4A10C579E2A1}"/>
              </a:ext>
            </a:extLst>
          </p:cNvPr>
          <p:cNvSpPr/>
          <p:nvPr/>
        </p:nvSpPr>
        <p:spPr>
          <a:xfrm>
            <a:off x="11811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6">
            <a:extLst>
              <a:ext uri="{FF2B5EF4-FFF2-40B4-BE49-F238E27FC236}">
                <a16:creationId xmlns:a16="http://schemas.microsoft.com/office/drawing/2014/main" id="{C91A0621-676A-4580-A799-09871C38765E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45" name="AutoShape 7">
            <a:extLst>
              <a:ext uri="{FF2B5EF4-FFF2-40B4-BE49-F238E27FC236}">
                <a16:creationId xmlns:a16="http://schemas.microsoft.com/office/drawing/2014/main" id="{9E5F09AB-673B-4EC2-88B0-9F33B83486DD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16 / 19</a:t>
            </a:r>
            <a:endParaRPr lang="en-US" sz="11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132811E-1C7B-4F7D-B72D-ED008F7D9D8E}"/>
              </a:ext>
            </a:extLst>
          </p:cNvPr>
          <p:cNvGrpSpPr/>
          <p:nvPr/>
        </p:nvGrpSpPr>
        <p:grpSpPr>
          <a:xfrm>
            <a:off x="685800" y="1517650"/>
            <a:ext cx="5334000" cy="3972649"/>
            <a:chOff x="685800" y="1517650"/>
            <a:chExt cx="5334000" cy="3972649"/>
          </a:xfrm>
        </p:grpSpPr>
        <p:sp>
          <p:nvSpPr>
            <p:cNvPr id="48" name="AutoShape 10">
              <a:extLst>
                <a:ext uri="{FF2B5EF4-FFF2-40B4-BE49-F238E27FC236}">
                  <a16:creationId xmlns:a16="http://schemas.microsoft.com/office/drawing/2014/main" id="{01DFE8AD-B825-4E16-A509-D991E69AE300}"/>
                </a:ext>
              </a:extLst>
            </p:cNvPr>
            <p:cNvSpPr/>
            <p:nvPr/>
          </p:nvSpPr>
          <p:spPr>
            <a:xfrm>
              <a:off x="697127" y="1517650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2000" dirty="0"/>
            </a:p>
          </p:txBody>
        </p:sp>
        <p:sp>
          <p:nvSpPr>
            <p:cNvPr id="49" name="AutoShape 11">
              <a:extLst>
                <a:ext uri="{FF2B5EF4-FFF2-40B4-BE49-F238E27FC236}">
                  <a16:creationId xmlns:a16="http://schemas.microsoft.com/office/drawing/2014/main" id="{558879F5-55FD-41F2-89A4-D4EE01554BC5}"/>
                </a:ext>
              </a:extLst>
            </p:cNvPr>
            <p:cNvSpPr/>
            <p:nvPr/>
          </p:nvSpPr>
          <p:spPr>
            <a:xfrm>
              <a:off x="1117600" y="154305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双口径测量</a:t>
              </a:r>
              <a:endParaRPr lang="en-US" sz="1800" dirty="0"/>
            </a:p>
          </p:txBody>
        </p:sp>
        <p:sp>
          <p:nvSpPr>
            <p:cNvPr id="50" name="AutoShape 12">
              <a:extLst>
                <a:ext uri="{FF2B5EF4-FFF2-40B4-BE49-F238E27FC236}">
                  <a16:creationId xmlns:a16="http://schemas.microsoft.com/office/drawing/2014/main" id="{047DD5F7-4A2E-43A8-83A1-152BFF11E416}"/>
                </a:ext>
              </a:extLst>
            </p:cNvPr>
            <p:cNvSpPr/>
            <p:nvPr/>
          </p:nvSpPr>
          <p:spPr>
            <a:xfrm>
              <a:off x="1130300" y="1870432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loose/strict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双严格度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micro/macro/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风险加权分；未决率与准确率成对呈现，单一指标不许报喜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51" name="AutoShape 13">
              <a:extLst>
                <a:ext uri="{FF2B5EF4-FFF2-40B4-BE49-F238E27FC236}">
                  <a16:creationId xmlns:a16="http://schemas.microsoft.com/office/drawing/2014/main" id="{D930D742-FD9E-48E2-AA3F-3F637F812BEA}"/>
                </a:ext>
              </a:extLst>
            </p:cNvPr>
            <p:cNvSpPr/>
            <p:nvPr/>
          </p:nvSpPr>
          <p:spPr>
            <a:xfrm>
              <a:off x="685800" y="2482850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2000" dirty="0"/>
            </a:p>
          </p:txBody>
        </p:sp>
        <p:sp>
          <p:nvSpPr>
            <p:cNvPr id="52" name="AutoShape 14">
              <a:extLst>
                <a:ext uri="{FF2B5EF4-FFF2-40B4-BE49-F238E27FC236}">
                  <a16:creationId xmlns:a16="http://schemas.microsoft.com/office/drawing/2014/main" id="{381D5B7F-7B29-47D3-B85B-EF955F892108}"/>
                </a:ext>
              </a:extLst>
            </p:cNvPr>
            <p:cNvSpPr/>
            <p:nvPr/>
          </p:nvSpPr>
          <p:spPr>
            <a:xfrm>
              <a:off x="1117600" y="252996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测量与自举隔离</a:t>
              </a:r>
              <a:endParaRPr lang="en-US" sz="1800" dirty="0"/>
            </a:p>
          </p:txBody>
        </p:sp>
        <p:sp>
          <p:nvSpPr>
            <p:cNvPr id="53" name="AutoShape 15">
              <a:extLst>
                <a:ext uri="{FF2B5EF4-FFF2-40B4-BE49-F238E27FC236}">
                  <a16:creationId xmlns:a16="http://schemas.microsoft.com/office/drawing/2014/main" id="{F9C977E9-50A8-47CF-A02D-C08A114D5991}"/>
                </a:ext>
              </a:extLst>
            </p:cNvPr>
            <p:cNvSpPr/>
            <p:nvPr/>
          </p:nvSpPr>
          <p:spPr>
            <a:xfrm>
              <a:off x="1117600" y="2794381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--no-signal-feedback 整体关闭信号注册表（不读不写）、共形校准禁用同集拟合、冻结测试集 SHA-256 只读——测量动作不参与被测对象。</a:t>
              </a:r>
            </a:p>
          </p:txBody>
        </p:sp>
        <p:sp>
          <p:nvSpPr>
            <p:cNvPr id="54" name="AutoShape 16">
              <a:extLst>
                <a:ext uri="{FF2B5EF4-FFF2-40B4-BE49-F238E27FC236}">
                  <a16:creationId xmlns:a16="http://schemas.microsoft.com/office/drawing/2014/main" id="{64063C82-C704-484E-8C65-5AE284E63DD5}"/>
                </a:ext>
              </a:extLst>
            </p:cNvPr>
            <p:cNvSpPr/>
            <p:nvPr/>
          </p:nvSpPr>
          <p:spPr>
            <a:xfrm>
              <a:off x="697127" y="3605684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2000" dirty="0"/>
            </a:p>
          </p:txBody>
        </p:sp>
        <p:sp>
          <p:nvSpPr>
            <p:cNvPr id="55" name="AutoShape 17">
              <a:extLst>
                <a:ext uri="{FF2B5EF4-FFF2-40B4-BE49-F238E27FC236}">
                  <a16:creationId xmlns:a16="http://schemas.microsoft.com/office/drawing/2014/main" id="{818E381B-B0F2-4700-986E-65F2ED396630}"/>
                </a:ext>
              </a:extLst>
            </p:cNvPr>
            <p:cNvSpPr/>
            <p:nvPr/>
          </p:nvSpPr>
          <p:spPr>
            <a:xfrm>
              <a:off x="1130300" y="363855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归因分流记账</a:t>
              </a:r>
              <a:endParaRPr lang="en-US" sz="1800" dirty="0"/>
            </a:p>
          </p:txBody>
        </p:sp>
        <p:sp>
          <p:nvSpPr>
            <p:cNvPr id="56" name="AutoShape 18">
              <a:extLst>
                <a:ext uri="{FF2B5EF4-FFF2-40B4-BE49-F238E27FC236}">
                  <a16:creationId xmlns:a16="http://schemas.microsoft.com/office/drawing/2014/main" id="{87966DAA-A1C7-47C5-8836-C55CBFFC5C8F}"/>
                </a:ext>
              </a:extLst>
            </p:cNvPr>
            <p:cNvSpPr/>
            <p:nvPr/>
          </p:nvSpPr>
          <p:spPr>
            <a:xfrm>
              <a:off x="1143000" y="3940556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no_candidate（工具欠召回）与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rejected（模型误否决）分开记账，优化永远打在正确的位置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57" name="AutoShape 19">
              <a:extLst>
                <a:ext uri="{FF2B5EF4-FFF2-40B4-BE49-F238E27FC236}">
                  <a16:creationId xmlns:a16="http://schemas.microsoft.com/office/drawing/2014/main" id="{D514C149-3139-43FE-882C-08A604924EFD}"/>
                </a:ext>
              </a:extLst>
            </p:cNvPr>
            <p:cNvSpPr/>
            <p:nvPr/>
          </p:nvSpPr>
          <p:spPr>
            <a:xfrm>
              <a:off x="698500" y="4507642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2000" dirty="0"/>
            </a:p>
          </p:txBody>
        </p:sp>
        <p:sp>
          <p:nvSpPr>
            <p:cNvPr id="58" name="AutoShape 20">
              <a:extLst>
                <a:ext uri="{FF2B5EF4-FFF2-40B4-BE49-F238E27FC236}">
                  <a16:creationId xmlns:a16="http://schemas.microsoft.com/office/drawing/2014/main" id="{DF96F458-31CE-4A24-BC77-3C3E936EAF6A}"/>
                </a:ext>
              </a:extLst>
            </p:cNvPr>
            <p:cNvSpPr/>
            <p:nvPr/>
          </p:nvSpPr>
          <p:spPr>
            <a:xfrm>
              <a:off x="1117600" y="4545742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可复现优先</a:t>
              </a:r>
              <a:endParaRPr lang="en-US" sz="1800" dirty="0"/>
            </a:p>
          </p:txBody>
        </p:sp>
        <p:sp>
          <p:nvSpPr>
            <p:cNvPr id="59" name="AutoShape 21">
              <a:extLst>
                <a:ext uri="{FF2B5EF4-FFF2-40B4-BE49-F238E27FC236}">
                  <a16:creationId xmlns:a16="http://schemas.microsoft.com/office/drawing/2014/main" id="{701FEAAA-1FBA-47E4-92D9-DE3FE960EF72}"/>
                </a:ext>
              </a:extLst>
            </p:cNvPr>
            <p:cNvSpPr/>
            <p:nvPr/>
          </p:nvSpPr>
          <p:spPr>
            <a:xfrm>
              <a:off x="1117600" y="4795355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score_batch.py 离线复算 57 行结果 × 10 指标，不重跑推理；答案一律以现行 manifest 为准，权重冻结于 weights_20260903.json。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0250F7E-5EF2-413C-9A74-1F8A25AD4A5B}"/>
              </a:ext>
            </a:extLst>
          </p:cNvPr>
          <p:cNvGrpSpPr/>
          <p:nvPr/>
        </p:nvGrpSpPr>
        <p:grpSpPr>
          <a:xfrm>
            <a:off x="697127" y="1174750"/>
            <a:ext cx="10821773" cy="255497"/>
            <a:chOff x="697127" y="1174750"/>
            <a:chExt cx="10821773" cy="255497"/>
          </a:xfrm>
        </p:grpSpPr>
        <p:sp>
          <p:nvSpPr>
            <p:cNvPr id="46" name="AutoShape 8">
              <a:extLst>
                <a:ext uri="{FF2B5EF4-FFF2-40B4-BE49-F238E27FC236}">
                  <a16:creationId xmlns:a16="http://schemas.microsoft.com/office/drawing/2014/main" id="{47561F70-D73A-4761-B88B-41FE462C3F42}"/>
                </a:ext>
              </a:extLst>
            </p:cNvPr>
            <p:cNvSpPr/>
            <p:nvPr/>
          </p:nvSpPr>
          <p:spPr>
            <a:xfrm>
              <a:off x="697127" y="120164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9">
              <a:extLst>
                <a:ext uri="{FF2B5EF4-FFF2-40B4-BE49-F238E27FC236}">
                  <a16:creationId xmlns:a16="http://schemas.microsoft.com/office/drawing/2014/main" id="{9E62B6B6-B280-49AB-947A-435DBDCF8374}"/>
                </a:ext>
              </a:extLst>
            </p:cNvPr>
            <p:cNvSpPr/>
            <p:nvPr/>
          </p:nvSpPr>
          <p:spPr>
            <a:xfrm>
              <a:off x="876300" y="1174750"/>
              <a:ext cx="4826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方法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我们会什么</a:t>
              </a:r>
              <a:endParaRPr lang="en-US" sz="1800" dirty="0"/>
            </a:p>
          </p:txBody>
        </p:sp>
        <p:sp>
          <p:nvSpPr>
            <p:cNvPr id="60" name="AutoShape 22">
              <a:extLst>
                <a:ext uri="{FF2B5EF4-FFF2-40B4-BE49-F238E27FC236}">
                  <a16:creationId xmlns:a16="http://schemas.microsoft.com/office/drawing/2014/main" id="{28B8FF64-759C-46AE-954C-31481671DC19}"/>
                </a:ext>
              </a:extLst>
            </p:cNvPr>
            <p:cNvSpPr/>
            <p:nvPr/>
          </p:nvSpPr>
          <p:spPr>
            <a:xfrm>
              <a:off x="6288216" y="120164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1" name="AutoShape 23">
              <a:extLst>
                <a:ext uri="{FF2B5EF4-FFF2-40B4-BE49-F238E27FC236}">
                  <a16:creationId xmlns:a16="http://schemas.microsoft.com/office/drawing/2014/main" id="{7122A80A-32EB-4CBD-AA47-069D95521AA7}"/>
                </a:ext>
              </a:extLst>
            </p:cNvPr>
            <p:cNvSpPr/>
            <p:nvPr/>
          </p:nvSpPr>
          <p:spPr>
            <a:xfrm>
              <a:off x="6438900" y="1175951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应对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这些方法解决过什么</a:t>
              </a:r>
              <a:endParaRPr lang="en-US" sz="1800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A31999F-795F-4ED2-BBB4-E97CA5CF7170}"/>
              </a:ext>
            </a:extLst>
          </p:cNvPr>
          <p:cNvGrpSpPr/>
          <p:nvPr/>
        </p:nvGrpSpPr>
        <p:grpSpPr>
          <a:xfrm>
            <a:off x="6285470" y="1771135"/>
            <a:ext cx="5220730" cy="3861614"/>
            <a:chOff x="6285470" y="1771135"/>
            <a:chExt cx="5220730" cy="3861614"/>
          </a:xfrm>
        </p:grpSpPr>
        <p:sp>
          <p:nvSpPr>
            <p:cNvPr id="62" name="AutoShape 24">
              <a:extLst>
                <a:ext uri="{FF2B5EF4-FFF2-40B4-BE49-F238E27FC236}">
                  <a16:creationId xmlns:a16="http://schemas.microsoft.com/office/drawing/2014/main" id="{5DB3A0F2-8879-4CA8-8360-9EBF4FD4B201}"/>
                </a:ext>
              </a:extLst>
            </p:cNvPr>
            <p:cNvSpPr/>
            <p:nvPr/>
          </p:nvSpPr>
          <p:spPr>
            <a:xfrm>
              <a:off x="6285470" y="1771135"/>
              <a:ext cx="5220730" cy="1226065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3" name="AutoShape 25">
              <a:extLst>
                <a:ext uri="{FF2B5EF4-FFF2-40B4-BE49-F238E27FC236}">
                  <a16:creationId xmlns:a16="http://schemas.microsoft.com/office/drawing/2014/main" id="{BEBE77A5-E0E1-4ADA-84B2-BF934F88E0CA}"/>
                </a:ext>
              </a:extLst>
            </p:cNvPr>
            <p:cNvSpPr/>
            <p:nvPr/>
          </p:nvSpPr>
          <p:spPr>
            <a:xfrm>
              <a:off x="6304280" y="1771135"/>
              <a:ext cx="45719" cy="1226065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4" name="AutoShape 26">
              <a:extLst>
                <a:ext uri="{FF2B5EF4-FFF2-40B4-BE49-F238E27FC236}">
                  <a16:creationId xmlns:a16="http://schemas.microsoft.com/office/drawing/2014/main" id="{F596A648-F2A8-457B-BA19-2C813EFF5800}"/>
                </a:ext>
              </a:extLst>
            </p:cNvPr>
            <p:cNvSpPr/>
            <p:nvPr/>
          </p:nvSpPr>
          <p:spPr>
            <a:xfrm>
              <a:off x="6502400" y="180923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fixed3 → fixed5：重建测量本身</a:t>
              </a:r>
              <a:endParaRPr lang="en-US" sz="1800" dirty="0"/>
            </a:p>
          </p:txBody>
        </p:sp>
        <p:sp>
          <p:nvSpPr>
            <p:cNvPr id="65" name="AutoShape 27">
              <a:extLst>
                <a:ext uri="{FF2B5EF4-FFF2-40B4-BE49-F238E27FC236}">
                  <a16:creationId xmlns:a16="http://schemas.microsoft.com/office/drawing/2014/main" id="{0245C871-C0CD-42A5-BAD7-8309E82C108F}"/>
                </a:ext>
              </a:extLst>
            </p:cNvPr>
            <p:cNvSpPr/>
            <p:nvPr/>
          </p:nvSpPr>
          <p:spPr>
            <a:xfrm>
              <a:off x="6515100" y="2111629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同模型同数据只换评估方式（loose 准确 / FPR）：0.982/0.167 → 1.000/0.043，污染源正是测量过程；strict 口径见 P20。</a:t>
              </a:r>
              <a:endParaRPr lang="en-US" sz="1600" dirty="0"/>
            </a:p>
          </p:txBody>
        </p:sp>
        <p:sp>
          <p:nvSpPr>
            <p:cNvPr id="66" name="AutoShape 28">
              <a:extLst>
                <a:ext uri="{FF2B5EF4-FFF2-40B4-BE49-F238E27FC236}">
                  <a16:creationId xmlns:a16="http://schemas.microsoft.com/office/drawing/2014/main" id="{24267126-5C0E-44C7-9CF9-93C8695A6BC1}"/>
                </a:ext>
              </a:extLst>
            </p:cNvPr>
            <p:cNvSpPr/>
            <p:nvPr/>
          </p:nvSpPr>
          <p:spPr>
            <a:xfrm>
              <a:off x="6299200" y="3149600"/>
              <a:ext cx="5207000" cy="1174496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7" name="AutoShape 29">
              <a:extLst>
                <a:ext uri="{FF2B5EF4-FFF2-40B4-BE49-F238E27FC236}">
                  <a16:creationId xmlns:a16="http://schemas.microsoft.com/office/drawing/2014/main" id="{1C9138A0-BA84-4746-9B39-EBAFDF0F5C8B}"/>
                </a:ext>
              </a:extLst>
            </p:cNvPr>
            <p:cNvSpPr/>
            <p:nvPr/>
          </p:nvSpPr>
          <p:spPr>
            <a:xfrm>
              <a:off x="6299200" y="3149600"/>
              <a:ext cx="45719" cy="11430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8" name="AutoShape 30">
              <a:extLst>
                <a:ext uri="{FF2B5EF4-FFF2-40B4-BE49-F238E27FC236}">
                  <a16:creationId xmlns:a16="http://schemas.microsoft.com/office/drawing/2014/main" id="{ECF5D18D-4555-4AE7-A670-529DE6C56CBE}"/>
                </a:ext>
              </a:extLst>
            </p:cNvPr>
            <p:cNvSpPr/>
            <p:nvPr/>
          </p:nvSpPr>
          <p:spPr>
            <a:xfrm>
              <a:off x="6527800" y="3194050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提示五维审计：把“不好”拆成可修项</a:t>
              </a:r>
              <a:endParaRPr lang="en-US" sz="1800" dirty="0"/>
            </a:p>
          </p:txBody>
        </p:sp>
        <p:sp>
          <p:nvSpPr>
            <p:cNvPr id="69" name="AutoShape 31">
              <a:extLst>
                <a:ext uri="{FF2B5EF4-FFF2-40B4-BE49-F238E27FC236}">
                  <a16:creationId xmlns:a16="http://schemas.microsoft.com/office/drawing/2014/main" id="{AECEC1D2-EF53-4A13-80A0-9201A03CE2DD}"/>
                </a:ext>
              </a:extLst>
            </p:cNvPr>
            <p:cNvSpPr/>
            <p:nvPr/>
          </p:nvSpPr>
          <p:spPr>
            <a:xfrm>
              <a:off x="6502400" y="3441012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工具覆盖 59.0%、提示到点 86.1%、误导率 14.3%——逐项有主；逻辑类漏洞缺专用规则（CSRF、竞态、弱加密），明确划给训练侧补。</a:t>
              </a:r>
            </a:p>
          </p:txBody>
        </p:sp>
        <p:sp>
          <p:nvSpPr>
            <p:cNvPr id="70" name="AutoShape 32">
              <a:extLst>
                <a:ext uri="{FF2B5EF4-FFF2-40B4-BE49-F238E27FC236}">
                  <a16:creationId xmlns:a16="http://schemas.microsoft.com/office/drawing/2014/main" id="{9ED2C564-8F5B-459D-9846-BB395B209594}"/>
                </a:ext>
              </a:extLst>
            </p:cNvPr>
            <p:cNvSpPr/>
            <p:nvPr/>
          </p:nvSpPr>
          <p:spPr>
            <a:xfrm>
              <a:off x="6299200" y="441960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1" name="AutoShape 33">
              <a:extLst>
                <a:ext uri="{FF2B5EF4-FFF2-40B4-BE49-F238E27FC236}">
                  <a16:creationId xmlns:a16="http://schemas.microsoft.com/office/drawing/2014/main" id="{2248BEAA-17A1-426F-AC46-E25CDF72E833}"/>
                </a:ext>
              </a:extLst>
            </p:cNvPr>
            <p:cNvSpPr/>
            <p:nvPr/>
          </p:nvSpPr>
          <p:spPr>
            <a:xfrm>
              <a:off x="6299200" y="441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2" name="AutoShape 34">
              <a:extLst>
                <a:ext uri="{FF2B5EF4-FFF2-40B4-BE49-F238E27FC236}">
                  <a16:creationId xmlns:a16="http://schemas.microsoft.com/office/drawing/2014/main" id="{B2793137-C599-4AA0-9DC6-2466CACF8497}"/>
                </a:ext>
              </a:extLst>
            </p:cNvPr>
            <p:cNvSpPr/>
            <p:nvPr/>
          </p:nvSpPr>
          <p:spPr>
            <a:xfrm>
              <a:off x="6515100" y="4481041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失败沉淀为制度</a:t>
              </a:r>
              <a:endParaRPr lang="en-US" sz="1800" dirty="0"/>
            </a:p>
          </p:txBody>
        </p:sp>
        <p:sp>
          <p:nvSpPr>
            <p:cNvPr id="73" name="AutoShape 35">
              <a:extLst>
                <a:ext uri="{FF2B5EF4-FFF2-40B4-BE49-F238E27FC236}">
                  <a16:creationId xmlns:a16="http://schemas.microsoft.com/office/drawing/2014/main" id="{056C77A2-9E85-4B6C-92F1-04BBF824B163}"/>
                </a:ext>
              </a:extLst>
            </p:cNvPr>
            <p:cNvSpPr/>
            <p:nvPr/>
          </p:nvSpPr>
          <p:spPr>
            <a:xfrm>
              <a:off x="6527800" y="4864653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26 类错误清单 + 15 个审计版本：每次踩坑变成下一轮的强制检查项，不重复交学费。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A7BC537-4822-4ED1-B98C-D94F3AEB9EF3}"/>
              </a:ext>
            </a:extLst>
          </p:cNvPr>
          <p:cNvGrpSpPr/>
          <p:nvPr/>
        </p:nvGrpSpPr>
        <p:grpSpPr>
          <a:xfrm>
            <a:off x="685800" y="5689600"/>
            <a:ext cx="10820400" cy="736600"/>
            <a:chOff x="685800" y="5689600"/>
            <a:chExt cx="10820400" cy="736600"/>
          </a:xfrm>
        </p:grpSpPr>
        <p:sp>
          <p:nvSpPr>
            <p:cNvPr id="74" name="AutoShape 36">
              <a:extLst>
                <a:ext uri="{FF2B5EF4-FFF2-40B4-BE49-F238E27FC236}">
                  <a16:creationId xmlns:a16="http://schemas.microsoft.com/office/drawing/2014/main" id="{D761297D-B120-485D-A25C-716D4A35612B}"/>
                </a:ext>
              </a:extLst>
            </p:cNvPr>
            <p:cNvSpPr/>
            <p:nvPr/>
          </p:nvSpPr>
          <p:spPr>
            <a:xfrm>
              <a:off x="685800" y="5689600"/>
              <a:ext cx="10820400" cy="736600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5" name="AutoShape 37">
              <a:extLst>
                <a:ext uri="{FF2B5EF4-FFF2-40B4-BE49-F238E27FC236}">
                  <a16:creationId xmlns:a16="http://schemas.microsoft.com/office/drawing/2014/main" id="{73911822-4643-4E05-B5D9-0E6E4828839C}"/>
                </a:ext>
              </a:extLst>
            </p:cNvPr>
            <p:cNvSpPr/>
            <p:nvPr/>
          </p:nvSpPr>
          <p:spPr>
            <a:xfrm>
              <a:off x="685800" y="56896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6" name="AutoShape 38">
              <a:extLst>
                <a:ext uri="{FF2B5EF4-FFF2-40B4-BE49-F238E27FC236}">
                  <a16:creationId xmlns:a16="http://schemas.microsoft.com/office/drawing/2014/main" id="{1DE1537C-FDD2-4DEE-AFC7-BA964742938E}"/>
                </a:ext>
              </a:extLst>
            </p:cNvPr>
            <p:cNvSpPr/>
            <p:nvPr/>
          </p:nvSpPr>
          <p:spPr>
            <a:xfrm>
              <a:off x="990600" y="5816600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CORE PRINCIPLE</a:t>
              </a:r>
              <a:endParaRPr lang="en-US" sz="1100" dirty="0"/>
            </a:p>
          </p:txBody>
        </p:sp>
        <p:sp>
          <p:nvSpPr>
            <p:cNvPr id="77" name="AutoShape 39">
              <a:extLst>
                <a:ext uri="{FF2B5EF4-FFF2-40B4-BE49-F238E27FC236}">
                  <a16:creationId xmlns:a16="http://schemas.microsoft.com/office/drawing/2014/main" id="{63C2F8EC-1C04-4331-9E46-7A264AA99139}"/>
                </a:ext>
              </a:extLst>
            </p:cNvPr>
            <p:cNvSpPr/>
            <p:nvPr/>
          </p:nvSpPr>
          <p:spPr>
            <a:xfrm>
              <a:off x="965200" y="6032500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实验的目的不是证明自己对，而是</a:t>
              </a:r>
              <a:r>
                <a:rPr lang="zh-CN" alt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想尽方法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证明自己</a:t>
              </a:r>
              <a:r>
                <a:rPr lang="zh-CN" alt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是否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不对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4791DCCB-AB12-434E-8FE2-DEF17EC3176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CB2EC12-E9A5-4A35-89F9-0D60DDFCC0D8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9C2BAB9E-AB69-4B79-B715-2DEA06FC5511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D34FB8C-1CCB-4657-919F-5243427D4B52}"/>
              </a:ext>
            </a:extLst>
          </p:cNvPr>
          <p:cNvGrpSpPr/>
          <p:nvPr/>
        </p:nvGrpSpPr>
        <p:grpSpPr>
          <a:xfrm>
            <a:off x="3810000" y="2641600"/>
            <a:ext cx="7442200" cy="939800"/>
            <a:chOff x="3810000" y="2641600"/>
            <a:chExt cx="7442200" cy="939800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AF9536FF-2875-421C-A2E1-D8019EB3E021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6">
              <a:extLst>
                <a:ext uri="{FF2B5EF4-FFF2-40B4-BE49-F238E27FC236}">
                  <a16:creationId xmlns:a16="http://schemas.microsoft.com/office/drawing/2014/main" id="{B2F8CA84-9C7A-4380-A740-0215168962DD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4400" dirty="0"/>
            </a:p>
          </p:txBody>
        </p:sp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9B3B7952-E100-4C63-9720-6F0C58CEA634}"/>
                </a:ext>
              </a:extLst>
            </p:cNvPr>
            <p:cNvSpPr/>
            <p:nvPr/>
          </p:nvSpPr>
          <p:spPr>
            <a:xfrm>
              <a:off x="4140200" y="32766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PROJECT VALUE · ARCHITECTURE, DATA, RESULTS, ENGINEERING</a:t>
              </a:r>
              <a:endParaRPr lang="en-US" sz="1100" dirty="0"/>
            </a:p>
          </p:txBody>
        </p:sp>
      </p:grpSp>
      <p:sp>
        <p:nvSpPr>
          <p:cNvPr id="35" name="AutoShape 8">
            <a:extLst>
              <a:ext uri="{FF2B5EF4-FFF2-40B4-BE49-F238E27FC236}">
                <a16:creationId xmlns:a16="http://schemas.microsoft.com/office/drawing/2014/main" id="{E9E034A6-F5BB-40C0-A107-65C44EE4A281}"/>
              </a:ext>
            </a:extLst>
          </p:cNvPr>
          <p:cNvSpPr/>
          <p:nvPr/>
        </p:nvSpPr>
        <p:spPr>
          <a:xfrm>
            <a:off x="4140200" y="3581999"/>
            <a:ext cx="7740000" cy="115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三层能力，在本章物化成可运行的系统</a:t>
            </a:r>
            <a:endParaRPr lang="en-US" sz="2000" dirty="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架构 · 结果 · 工程 · 成本：每个结论背后都有可运行的代码与实验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9D225FE-8AE0-4DE3-943E-AE1F5F357F91}"/>
              </a:ext>
            </a:extLst>
          </p:cNvPr>
          <p:cNvGrpSpPr/>
          <p:nvPr/>
        </p:nvGrpSpPr>
        <p:grpSpPr>
          <a:xfrm>
            <a:off x="7493000" y="4902200"/>
            <a:ext cx="1092200" cy="330200"/>
            <a:chOff x="7493000" y="4902200"/>
            <a:chExt cx="1092200" cy="330200"/>
          </a:xfrm>
        </p:grpSpPr>
        <p:sp>
          <p:nvSpPr>
            <p:cNvPr id="46" name="AutoShape 15">
              <a:extLst>
                <a:ext uri="{FF2B5EF4-FFF2-40B4-BE49-F238E27FC236}">
                  <a16:creationId xmlns:a16="http://schemas.microsoft.com/office/drawing/2014/main" id="{CCAB5B81-E223-47B4-8081-ABB62BF0DECC}"/>
                </a:ext>
              </a:extLst>
            </p:cNvPr>
            <p:cNvSpPr/>
            <p:nvPr/>
          </p:nvSpPr>
          <p:spPr>
            <a:xfrm>
              <a:off x="74930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16">
              <a:extLst>
                <a:ext uri="{FF2B5EF4-FFF2-40B4-BE49-F238E27FC236}">
                  <a16:creationId xmlns:a16="http://schemas.microsoft.com/office/drawing/2014/main" id="{F045BDC2-53F7-4D38-B964-B195A34BF1C8}"/>
                </a:ext>
              </a:extLst>
            </p:cNvPr>
            <p:cNvSpPr/>
            <p:nvPr/>
          </p:nvSpPr>
          <p:spPr>
            <a:xfrm>
              <a:off x="74930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项目的价值</a:t>
              </a:r>
              <a:endParaRPr lang="en-US" sz="11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AF508B0-7738-477E-9F42-F3F205524A60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E344836F-8D27-497D-89B4-11A54FF626F5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37" name="AutoShape 9">
                <a:extLst>
                  <a:ext uri="{FF2B5EF4-FFF2-40B4-BE49-F238E27FC236}">
                    <a16:creationId xmlns:a16="http://schemas.microsoft.com/office/drawing/2014/main" id="{97EE1C13-9A32-4D88-AD44-13BEA96BC9A2}"/>
                  </a:ext>
                </a:extLst>
              </p:cNvPr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8" name="AutoShape 10">
                <a:extLst>
                  <a:ext uri="{FF2B5EF4-FFF2-40B4-BE49-F238E27FC236}">
                    <a16:creationId xmlns:a16="http://schemas.microsoft.com/office/drawing/2014/main" id="{ED20B591-5E72-4EAE-8E3B-7DB7C143472F}"/>
                  </a:ext>
                </a:extLst>
              </p:cNvPr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6BBCCCD-6B29-4206-A93F-4D741DF221EE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40" name="AutoShape 11">
                <a:extLst>
                  <a:ext uri="{FF2B5EF4-FFF2-40B4-BE49-F238E27FC236}">
                    <a16:creationId xmlns:a16="http://schemas.microsoft.com/office/drawing/2014/main" id="{5EAB1A45-C17C-40E2-9A6C-9A25A47B7F52}"/>
                  </a:ext>
                </a:extLst>
              </p:cNvPr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1" name="AutoShape 12">
                <a:extLst>
                  <a:ext uri="{FF2B5EF4-FFF2-40B4-BE49-F238E27FC236}">
                    <a16:creationId xmlns:a16="http://schemas.microsoft.com/office/drawing/2014/main" id="{0B817172-88E5-4CC7-A162-0D9BBA6EAF07}"/>
                  </a:ext>
                </a:extLst>
              </p:cNvPr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能力总览</a:t>
                </a:r>
                <a:endParaRPr lang="en-US" sz="1100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5DC0F5A1-FA7F-494C-A346-77CC02E26A84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43" name="AutoShape 13">
                <a:extLst>
                  <a:ext uri="{FF2B5EF4-FFF2-40B4-BE49-F238E27FC236}">
                    <a16:creationId xmlns:a16="http://schemas.microsoft.com/office/drawing/2014/main" id="{9ECC700C-F637-42C9-95E3-D24352BC1D0D}"/>
                  </a:ext>
                </a:extLst>
              </p:cNvPr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4" name="AutoShape 14">
                <a:extLst>
                  <a:ext uri="{FF2B5EF4-FFF2-40B4-BE49-F238E27FC236}">
                    <a16:creationId xmlns:a16="http://schemas.microsoft.com/office/drawing/2014/main" id="{D1B6E693-DAEB-4FBD-9B96-452B6600A962}"/>
                  </a:ext>
                </a:extLst>
              </p:cNvPr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我们的价值</a:t>
                </a:r>
                <a:endParaRPr lang="en-US" sz="1100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75DEADC-E5A8-4D65-9BA0-D9D7859A81B6}"/>
                </a:ext>
              </a:extLst>
            </p:cNvPr>
            <p:cNvGrpSpPr/>
            <p:nvPr/>
          </p:nvGrpSpPr>
          <p:grpSpPr>
            <a:xfrm>
              <a:off x="8610600" y="4902200"/>
              <a:ext cx="1092200" cy="330200"/>
              <a:chOff x="8610600" y="4902200"/>
              <a:chExt cx="1092200" cy="330200"/>
            </a:xfrm>
          </p:grpSpPr>
          <p:sp>
            <p:nvSpPr>
              <p:cNvPr id="49" name="AutoShape 17">
                <a:extLst>
                  <a:ext uri="{FF2B5EF4-FFF2-40B4-BE49-F238E27FC236}">
                    <a16:creationId xmlns:a16="http://schemas.microsoft.com/office/drawing/2014/main" id="{DEAFDBEC-E1E4-463F-8831-2E6B83DC1AA4}"/>
                  </a:ext>
                </a:extLst>
              </p:cNvPr>
              <p:cNvSpPr/>
              <p:nvPr/>
            </p:nvSpPr>
            <p:spPr>
              <a:xfrm>
                <a:off x="86106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0" name="AutoShape 18">
                <a:extLst>
                  <a:ext uri="{FF2B5EF4-FFF2-40B4-BE49-F238E27FC236}">
                    <a16:creationId xmlns:a16="http://schemas.microsoft.com/office/drawing/2014/main" id="{78210290-12F6-40CC-BEAA-21B7B2F47245}"/>
                  </a:ext>
                </a:extLst>
              </p:cNvPr>
              <p:cNvSpPr/>
              <p:nvPr/>
            </p:nvSpPr>
            <p:spPr>
              <a:xfrm>
                <a:off x="86106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05 系统演示</a:t>
                </a:r>
                <a:endParaRPr lang="en-US" sz="1100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ADD92883-F612-42EE-9CBF-2CA88FB96DF9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52" name="AutoShape 19">
                <a:extLst>
                  <a:ext uri="{FF2B5EF4-FFF2-40B4-BE49-F238E27FC236}">
                    <a16:creationId xmlns:a16="http://schemas.microsoft.com/office/drawing/2014/main" id="{AF00A71D-EE62-4D20-8697-15B8AAC986AA}"/>
                  </a:ext>
                </a:extLst>
              </p:cNvPr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3" name="AutoShape 20">
                <a:extLst>
                  <a:ext uri="{FF2B5EF4-FFF2-40B4-BE49-F238E27FC236}">
                    <a16:creationId xmlns:a16="http://schemas.microsoft.com/office/drawing/2014/main" id="{EFE43386-C231-4DEC-A2D6-81A7C9555241}"/>
                  </a:ext>
                </a:extLst>
              </p:cNvPr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工程实现</a:t>
                </a:r>
                <a:endParaRPr lang="en-US" sz="1100"/>
              </a:p>
            </p:txBody>
          </p:sp>
        </p:grpSp>
      </p:grpSp>
      <p:sp>
        <p:nvSpPr>
          <p:cNvPr id="54" name="AutoShape 21">
            <a:extLst>
              <a:ext uri="{FF2B5EF4-FFF2-40B4-BE49-F238E27FC236}">
                <a16:creationId xmlns:a16="http://schemas.microsoft.com/office/drawing/2014/main" id="{83A9F779-1B4B-4203-9A23-27BDFDBD07A5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5" name="AutoShape 22">
            <a:extLst>
              <a:ext uri="{FF2B5EF4-FFF2-40B4-BE49-F238E27FC236}">
                <a16:creationId xmlns:a16="http://schemas.microsoft.com/office/drawing/2014/main" id="{5A20CB09-6648-4FD5-8669-486418A08B15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09 / 19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A1E1C0D-1B23-4261-8D50-E020CA0E175F}"/>
              </a:ext>
            </a:extLst>
          </p:cNvPr>
          <p:cNvGrpSpPr/>
          <p:nvPr/>
        </p:nvGrpSpPr>
        <p:grpSpPr>
          <a:xfrm>
            <a:off x="76657" y="1176337"/>
            <a:ext cx="7987222" cy="5585899"/>
            <a:chOff x="76657" y="1176337"/>
            <a:chExt cx="7987222" cy="5585899"/>
          </a:xfrm>
        </p:grpSpPr>
        <p:pic>
          <p:nvPicPr>
            <p:cNvPr id="62" name="Picture 8">
              <a:extLst>
                <a:ext uri="{FF2B5EF4-FFF2-40B4-BE49-F238E27FC236}">
                  <a16:creationId xmlns:a16="http://schemas.microsoft.com/office/drawing/2014/main" id="{9ADF9C78-597E-4A78-9CC6-BAA5156B7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9" r="69"/>
            <a:stretch>
              <a:fillRect/>
            </a:stretch>
          </p:blipFill>
          <p:spPr>
            <a:xfrm>
              <a:off x="76657" y="1176337"/>
              <a:ext cx="7987222" cy="5367553"/>
            </a:xfrm>
            <a:prstGeom prst="roundRect">
              <a:avLst>
                <a:gd name="adj" fmla="val 2234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  <p:sp>
          <p:nvSpPr>
            <p:cNvPr id="63" name="AutoShape 9">
              <a:extLst>
                <a:ext uri="{FF2B5EF4-FFF2-40B4-BE49-F238E27FC236}">
                  <a16:creationId xmlns:a16="http://schemas.microsoft.com/office/drawing/2014/main" id="{63EE48EF-75A7-4A0B-A61C-95C7056A12FD}"/>
                </a:ext>
              </a:extLst>
            </p:cNvPr>
            <p:cNvSpPr/>
            <p:nvPr/>
          </p:nvSpPr>
          <p:spPr>
            <a:xfrm>
              <a:off x="628135" y="6584436"/>
              <a:ext cx="72644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图：wave8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两阶段总体架构与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2.5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代信任层（工程实现与本图一致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）</a:t>
              </a:r>
              <a:endParaRPr lang="en-US" sz="1100" dirty="0"/>
            </a:p>
          </p:txBody>
        </p:sp>
      </p:grpSp>
      <p:sp>
        <p:nvSpPr>
          <p:cNvPr id="52" name="AutoShape 2">
            <a:extLst>
              <a:ext uri="{FF2B5EF4-FFF2-40B4-BE49-F238E27FC236}">
                <a16:creationId xmlns:a16="http://schemas.microsoft.com/office/drawing/2014/main" id="{C78F1442-4756-4F5D-AE64-77AE960D6131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53" name="AutoShape 3">
            <a:extLst>
              <a:ext uri="{FF2B5EF4-FFF2-40B4-BE49-F238E27FC236}">
                <a16:creationId xmlns:a16="http://schemas.microsoft.com/office/drawing/2014/main" id="{B8E85884-E0AA-4DCB-9C37-8B9D5157697E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 · 确定性工具召回 × LLM 封闭裁决，2.5 代信任层兜底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2800" dirty="0"/>
          </a:p>
        </p:txBody>
      </p:sp>
      <p:sp>
        <p:nvSpPr>
          <p:cNvPr id="54" name="AutoShape 4">
            <a:extLst>
              <a:ext uri="{FF2B5EF4-FFF2-40B4-BE49-F238E27FC236}">
                <a16:creationId xmlns:a16="http://schemas.microsoft.com/office/drawing/2014/main" id="{02437F70-25CA-4E74-9701-4982D98B67A9}"/>
              </a:ext>
            </a:extLst>
          </p:cNvPr>
          <p:cNvSpPr/>
          <p:nvPr/>
        </p:nvSpPr>
        <p:spPr>
          <a:xfrm>
            <a:off x="685800" y="1016818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01FE7072-9973-4BA4-B6B4-E67A4E7C9099}"/>
              </a:ext>
            </a:extLst>
          </p:cNvPr>
          <p:cNvSpPr/>
          <p:nvPr/>
        </p:nvSpPr>
        <p:spPr>
          <a:xfrm>
            <a:off x="11938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10">
            <a:extLst>
              <a:ext uri="{FF2B5EF4-FFF2-40B4-BE49-F238E27FC236}">
                <a16:creationId xmlns:a16="http://schemas.microsoft.com/office/drawing/2014/main" id="{FC75BF9C-6663-4ECC-B74F-0E215E82A2AC}"/>
              </a:ext>
            </a:extLst>
          </p:cNvPr>
          <p:cNvSpPr/>
          <p:nvPr/>
        </p:nvSpPr>
        <p:spPr>
          <a:xfrm>
            <a:off x="8216900" y="1149349"/>
            <a:ext cx="330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三层结构</a:t>
            </a:r>
            <a:endParaRPr lang="en-US" sz="1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AA982AE-23A8-4EDB-8FE3-3A5FB4C5ECE3}"/>
              </a:ext>
            </a:extLst>
          </p:cNvPr>
          <p:cNvGrpSpPr/>
          <p:nvPr/>
        </p:nvGrpSpPr>
        <p:grpSpPr>
          <a:xfrm>
            <a:off x="8216900" y="1574800"/>
            <a:ext cx="3276600" cy="1346200"/>
            <a:chOff x="8216900" y="1574800"/>
            <a:chExt cx="3276600" cy="1346200"/>
          </a:xfrm>
        </p:grpSpPr>
        <p:sp>
          <p:nvSpPr>
            <p:cNvPr id="84" name="AutoShape 11">
              <a:extLst>
                <a:ext uri="{FF2B5EF4-FFF2-40B4-BE49-F238E27FC236}">
                  <a16:creationId xmlns:a16="http://schemas.microsoft.com/office/drawing/2014/main" id="{F7D25C5B-B59C-4942-9871-FB5FAA07E956}"/>
                </a:ext>
              </a:extLst>
            </p:cNvPr>
            <p:cNvSpPr/>
            <p:nvPr/>
          </p:nvSpPr>
          <p:spPr>
            <a:xfrm>
              <a:off x="8216900" y="1574800"/>
              <a:ext cx="3276600" cy="1346200"/>
            </a:xfrm>
            <a:prstGeom prst="roundRect">
              <a:avLst>
                <a:gd name="adj" fmla="val 9090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5" name="AutoShape 12">
              <a:extLst>
                <a:ext uri="{FF2B5EF4-FFF2-40B4-BE49-F238E27FC236}">
                  <a16:creationId xmlns:a16="http://schemas.microsoft.com/office/drawing/2014/main" id="{394A2A6D-D99A-4065-A5A5-C957DC2B69E4}"/>
                </a:ext>
              </a:extLst>
            </p:cNvPr>
            <p:cNvSpPr/>
            <p:nvPr/>
          </p:nvSpPr>
          <p:spPr>
            <a:xfrm>
              <a:off x="8234061" y="1574800"/>
              <a:ext cx="45719" cy="13462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6" name="AutoShape 13">
              <a:extLst>
                <a:ext uri="{FF2B5EF4-FFF2-40B4-BE49-F238E27FC236}">
                  <a16:creationId xmlns:a16="http://schemas.microsoft.com/office/drawing/2014/main" id="{B990EC16-4852-4A1F-9276-1B2CFAC0AF1F}"/>
                </a:ext>
              </a:extLst>
            </p:cNvPr>
            <p:cNvSpPr/>
            <p:nvPr/>
          </p:nvSpPr>
          <p:spPr>
            <a:xfrm>
              <a:off x="8399162" y="1585955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STAGE 1</a:t>
              </a:r>
              <a:endParaRPr lang="en-US" dirty="0"/>
            </a:p>
          </p:txBody>
        </p:sp>
        <p:sp>
          <p:nvSpPr>
            <p:cNvPr id="87" name="AutoShape 14">
              <a:extLst>
                <a:ext uri="{FF2B5EF4-FFF2-40B4-BE49-F238E27FC236}">
                  <a16:creationId xmlns:a16="http://schemas.microsoft.com/office/drawing/2014/main" id="{65ABF8EC-C673-4F13-86D6-E7090E06FB4A}"/>
                </a:ext>
              </a:extLst>
            </p:cNvPr>
            <p:cNvSpPr/>
            <p:nvPr/>
          </p:nvSpPr>
          <p:spPr>
            <a:xfrm>
              <a:off x="8407400" y="1813182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四路并行召回</a:t>
              </a:r>
              <a:endParaRPr lang="en-US" sz="1800" dirty="0"/>
            </a:p>
          </p:txBody>
        </p:sp>
        <p:sp>
          <p:nvSpPr>
            <p:cNvPr id="88" name="AutoShape 15">
              <a:extLst>
                <a:ext uri="{FF2B5EF4-FFF2-40B4-BE49-F238E27FC236}">
                  <a16:creationId xmlns:a16="http://schemas.microsoft.com/office/drawing/2014/main" id="{88A736A9-9F01-4D86-8738-3F18C520B057}"/>
                </a:ext>
              </a:extLst>
            </p:cNvPr>
            <p:cNvSpPr/>
            <p:nvPr/>
          </p:nvSpPr>
          <p:spPr>
            <a:xfrm>
              <a:off x="8394700" y="2079882"/>
              <a:ext cx="29464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自研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TaintTracker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Prefilter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与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Semgrep、外部扫描器并行，候选带证据链与行号</a:t>
              </a:r>
              <a:endParaRPr lang="en-US" sz="1600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BA40E8-FD34-4C05-A350-7AB161F557AA}"/>
              </a:ext>
            </a:extLst>
          </p:cNvPr>
          <p:cNvGrpSpPr/>
          <p:nvPr/>
        </p:nvGrpSpPr>
        <p:grpSpPr>
          <a:xfrm>
            <a:off x="8229600" y="3048000"/>
            <a:ext cx="3276600" cy="1341138"/>
            <a:chOff x="8229600" y="3048000"/>
            <a:chExt cx="3276600" cy="1341138"/>
          </a:xfrm>
        </p:grpSpPr>
        <p:sp>
          <p:nvSpPr>
            <p:cNvPr id="89" name="AutoShape 16">
              <a:extLst>
                <a:ext uri="{FF2B5EF4-FFF2-40B4-BE49-F238E27FC236}">
                  <a16:creationId xmlns:a16="http://schemas.microsoft.com/office/drawing/2014/main" id="{C1CF5C9F-0AFA-421A-AD78-6FD6B0FD6B8B}"/>
                </a:ext>
              </a:extLst>
            </p:cNvPr>
            <p:cNvSpPr/>
            <p:nvPr/>
          </p:nvSpPr>
          <p:spPr>
            <a:xfrm>
              <a:off x="8229600" y="3053921"/>
              <a:ext cx="3276600" cy="1335217"/>
            </a:xfrm>
            <a:prstGeom prst="roundRect">
              <a:avLst>
                <a:gd name="adj" fmla="val 9090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0" name="AutoShape 17">
              <a:extLst>
                <a:ext uri="{FF2B5EF4-FFF2-40B4-BE49-F238E27FC236}">
                  <a16:creationId xmlns:a16="http://schemas.microsoft.com/office/drawing/2014/main" id="{20D2686B-2572-4390-B591-77961CDE9CF2}"/>
                </a:ext>
              </a:extLst>
            </p:cNvPr>
            <p:cNvSpPr/>
            <p:nvPr/>
          </p:nvSpPr>
          <p:spPr>
            <a:xfrm>
              <a:off x="8229600" y="3048000"/>
              <a:ext cx="50799" cy="134113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1" name="AutoShape 18">
              <a:extLst>
                <a:ext uri="{FF2B5EF4-FFF2-40B4-BE49-F238E27FC236}">
                  <a16:creationId xmlns:a16="http://schemas.microsoft.com/office/drawing/2014/main" id="{DDB46432-E8AE-43F7-96EC-71379736F0A6}"/>
                </a:ext>
              </a:extLst>
            </p:cNvPr>
            <p:cNvSpPr/>
            <p:nvPr/>
          </p:nvSpPr>
          <p:spPr>
            <a:xfrm>
              <a:off x="8432800" y="3048000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STAGE 2</a:t>
              </a:r>
              <a:endParaRPr lang="en-US" dirty="0"/>
            </a:p>
          </p:txBody>
        </p:sp>
        <p:sp>
          <p:nvSpPr>
            <p:cNvPr id="92" name="AutoShape 19">
              <a:extLst>
                <a:ext uri="{FF2B5EF4-FFF2-40B4-BE49-F238E27FC236}">
                  <a16:creationId xmlns:a16="http://schemas.microsoft.com/office/drawing/2014/main" id="{CB939D5A-A832-4AAC-BE80-2845CBB9A0FF}"/>
                </a:ext>
              </a:extLst>
            </p:cNvPr>
            <p:cNvSpPr/>
            <p:nvPr/>
          </p:nvSpPr>
          <p:spPr>
            <a:xfrm>
              <a:off x="8432800" y="3252316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封闭裁决</a:t>
              </a:r>
              <a:endParaRPr lang="en-US" sz="1800" dirty="0"/>
            </a:p>
          </p:txBody>
        </p:sp>
        <p:sp>
          <p:nvSpPr>
            <p:cNvPr id="93" name="AutoShape 20">
              <a:extLst>
                <a:ext uri="{FF2B5EF4-FFF2-40B4-BE49-F238E27FC236}">
                  <a16:creationId xmlns:a16="http://schemas.microsoft.com/office/drawing/2014/main" id="{E54C0D18-635F-41F2-AD09-4357982CE090}"/>
                </a:ext>
              </a:extLst>
            </p:cNvPr>
            <p:cNvSpPr/>
            <p:nvPr/>
          </p:nvSpPr>
          <p:spPr>
            <a:xfrm>
              <a:off x="8432800" y="3565611"/>
              <a:ext cx="2946400" cy="56188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CodeSlicer 切最小上下文，可选 RAG 注入 CWE 判据；N=3 采样多数投票，只判候选真伪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4ADDD7-FF38-45AC-BDBC-B6C9F0C06156}"/>
              </a:ext>
            </a:extLst>
          </p:cNvPr>
          <p:cNvGrpSpPr/>
          <p:nvPr/>
        </p:nvGrpSpPr>
        <p:grpSpPr>
          <a:xfrm>
            <a:off x="8242299" y="4431101"/>
            <a:ext cx="3276601" cy="1250090"/>
            <a:chOff x="8242299" y="4431101"/>
            <a:chExt cx="3276601" cy="1250090"/>
          </a:xfrm>
        </p:grpSpPr>
        <p:sp>
          <p:nvSpPr>
            <p:cNvPr id="94" name="AutoShape 21">
              <a:extLst>
                <a:ext uri="{FF2B5EF4-FFF2-40B4-BE49-F238E27FC236}">
                  <a16:creationId xmlns:a16="http://schemas.microsoft.com/office/drawing/2014/main" id="{66E6D9C7-4EF4-43D5-94D4-E47121FACF60}"/>
                </a:ext>
              </a:extLst>
            </p:cNvPr>
            <p:cNvSpPr/>
            <p:nvPr/>
          </p:nvSpPr>
          <p:spPr>
            <a:xfrm>
              <a:off x="8242300" y="4470228"/>
              <a:ext cx="3276600" cy="1210963"/>
            </a:xfrm>
            <a:prstGeom prst="roundRect">
              <a:avLst>
                <a:gd name="adj" fmla="val 9090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5" name="AutoShape 22">
              <a:extLst>
                <a:ext uri="{FF2B5EF4-FFF2-40B4-BE49-F238E27FC236}">
                  <a16:creationId xmlns:a16="http://schemas.microsoft.com/office/drawing/2014/main" id="{C4BF12EC-3FAE-4929-BA0D-02B3AE77C2DA}"/>
                </a:ext>
              </a:extLst>
            </p:cNvPr>
            <p:cNvSpPr/>
            <p:nvPr/>
          </p:nvSpPr>
          <p:spPr>
            <a:xfrm>
              <a:off x="8242299" y="4460362"/>
              <a:ext cx="45719" cy="1220829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6" name="AutoShape 23">
              <a:extLst>
                <a:ext uri="{FF2B5EF4-FFF2-40B4-BE49-F238E27FC236}">
                  <a16:creationId xmlns:a16="http://schemas.microsoft.com/office/drawing/2014/main" id="{11EC928D-06C9-4232-81AE-255FFB261D19}"/>
                </a:ext>
              </a:extLst>
            </p:cNvPr>
            <p:cNvSpPr/>
            <p:nvPr/>
          </p:nvSpPr>
          <p:spPr>
            <a:xfrm>
              <a:off x="8458200" y="4431101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TRUST 2.5</a:t>
              </a:r>
              <a:endParaRPr lang="en-US" dirty="0"/>
            </a:p>
          </p:txBody>
        </p:sp>
        <p:sp>
          <p:nvSpPr>
            <p:cNvPr id="97" name="AutoShape 24">
              <a:extLst>
                <a:ext uri="{FF2B5EF4-FFF2-40B4-BE49-F238E27FC236}">
                  <a16:creationId xmlns:a16="http://schemas.microsoft.com/office/drawing/2014/main" id="{972E97AD-2612-4AE4-8E2A-63D95BD25A6C}"/>
                </a:ext>
              </a:extLst>
            </p:cNvPr>
            <p:cNvSpPr/>
            <p:nvPr/>
          </p:nvSpPr>
          <p:spPr>
            <a:xfrm>
              <a:off x="8478966" y="4613189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信任层兜底</a:t>
              </a:r>
              <a:endParaRPr lang="en-US" sz="1800" dirty="0"/>
            </a:p>
          </p:txBody>
        </p:sp>
        <p:sp>
          <p:nvSpPr>
            <p:cNvPr id="98" name="AutoShape 25">
              <a:extLst>
                <a:ext uri="{FF2B5EF4-FFF2-40B4-BE49-F238E27FC236}">
                  <a16:creationId xmlns:a16="http://schemas.microsoft.com/office/drawing/2014/main" id="{463C7266-B55D-4C32-88C2-B5455BAC3E65}"/>
                </a:ext>
              </a:extLst>
            </p:cNvPr>
            <p:cNvSpPr/>
            <p:nvPr/>
          </p:nvSpPr>
          <p:spPr>
            <a:xfrm>
              <a:off x="8453566" y="4862560"/>
              <a:ext cx="29464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A–E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分级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四重门控回填；无候选分支抽样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全量复核，绝不直接放行</a:t>
              </a:r>
              <a:endParaRPr lang="en-US" sz="1600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C7EBFB9-AD26-4AD7-9FFE-3866E796AB14}"/>
              </a:ext>
            </a:extLst>
          </p:cNvPr>
          <p:cNvGrpSpPr/>
          <p:nvPr/>
        </p:nvGrpSpPr>
        <p:grpSpPr>
          <a:xfrm>
            <a:off x="8242300" y="5800897"/>
            <a:ext cx="3356232" cy="774443"/>
            <a:chOff x="8242300" y="5800897"/>
            <a:chExt cx="3356232" cy="774443"/>
          </a:xfrm>
        </p:grpSpPr>
        <p:sp>
          <p:nvSpPr>
            <p:cNvPr id="99" name="AutoShape 26">
              <a:extLst>
                <a:ext uri="{FF2B5EF4-FFF2-40B4-BE49-F238E27FC236}">
                  <a16:creationId xmlns:a16="http://schemas.microsoft.com/office/drawing/2014/main" id="{2A42CF76-D6B5-4564-820A-DD7161E59E3B}"/>
                </a:ext>
              </a:extLst>
            </p:cNvPr>
            <p:cNvSpPr/>
            <p:nvPr/>
          </p:nvSpPr>
          <p:spPr>
            <a:xfrm>
              <a:off x="8242300" y="5800897"/>
              <a:ext cx="3276600" cy="762000"/>
            </a:xfrm>
            <a:prstGeom prst="roundRect">
              <a:avLst>
                <a:gd name="adj" fmla="val 1333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0" name="AutoShape 27">
              <a:extLst>
                <a:ext uri="{FF2B5EF4-FFF2-40B4-BE49-F238E27FC236}">
                  <a16:creationId xmlns:a16="http://schemas.microsoft.com/office/drawing/2014/main" id="{B79C29BA-EC89-43B6-8CB4-4C2DE916B0CC}"/>
                </a:ext>
              </a:extLst>
            </p:cNvPr>
            <p:cNvSpPr/>
            <p:nvPr/>
          </p:nvSpPr>
          <p:spPr>
            <a:xfrm>
              <a:off x="8369300" y="5813340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1600" b="0" i="0" u="none" strike="noStrike" dirty="0">
                  <a:solidFill>
                    <a:srgbClr val="96A6B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调用次数 261 → 420（87 集 n=3）</a:t>
              </a:r>
            </a:p>
          </p:txBody>
        </p:sp>
        <p:sp>
          <p:nvSpPr>
            <p:cNvPr id="101" name="AutoShape 28">
              <a:extLst>
                <a:ext uri="{FF2B5EF4-FFF2-40B4-BE49-F238E27FC236}">
                  <a16:creationId xmlns:a16="http://schemas.microsoft.com/office/drawing/2014/main" id="{0BDC8F3B-8B20-4EE3-B4B1-D93595756693}"/>
                </a:ext>
              </a:extLst>
            </p:cNvPr>
            <p:cNvSpPr/>
            <p:nvPr/>
          </p:nvSpPr>
          <p:spPr>
            <a:xfrm>
              <a:off x="8280400" y="6194340"/>
              <a:ext cx="3318132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输入 token ≈ 60 万 → 90 万</a:t>
              </a:r>
            </a:p>
          </p:txBody>
        </p:sp>
      </p:grpSp>
      <p:sp>
        <p:nvSpPr>
          <p:cNvPr id="28" name="AutoShape 22">
            <a:extLst>
              <a:ext uri="{FF2B5EF4-FFF2-40B4-BE49-F238E27FC236}">
                <a16:creationId xmlns:a16="http://schemas.microsoft.com/office/drawing/2014/main" id="{DB933655-8ED4-4598-8EC5-3788DC38331C}"/>
              </a:ext>
            </a:extLst>
          </p:cNvPr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r>
              <a:rPr lang="en-US" sz="900" b="0" i="0" u="none" strike="noStrike" dirty="0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10 / 19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四路并行召回：让确定性工具把候选找全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11 / 19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" y="1574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574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1887838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76400" y="1752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TaintTracker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701800" y="2047103"/>
            <a:ext cx="482600" cy="3556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76400" y="20828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14" name="AutoShape 14"/>
          <p:cNvSpPr/>
          <p:nvPr/>
        </p:nvSpPr>
        <p:spPr>
          <a:xfrm>
            <a:off x="3810000" y="1803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AST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级污点分析，自动追踪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source → sink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数据流路径</a:t>
            </a:r>
            <a:endParaRPr lang="en-US" sz="1800" dirty="0"/>
          </a:p>
        </p:txBody>
      </p:sp>
      <p:sp>
        <p:nvSpPr>
          <p:cNvPr id="15" name="AutoShape 15"/>
          <p:cNvSpPr/>
          <p:nvPr/>
        </p:nvSpPr>
        <p:spPr>
          <a:xfrm>
            <a:off x="8890000" y="1803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产出数据流证据链</a:t>
            </a:r>
            <a:endParaRPr lang="en-US" sz="2000" dirty="0"/>
          </a:p>
        </p:txBody>
      </p:sp>
      <p:sp>
        <p:nvSpPr>
          <p:cNvPr id="16" name="AutoShape 16"/>
          <p:cNvSpPr/>
          <p:nvPr/>
        </p:nvSpPr>
        <p:spPr>
          <a:xfrm>
            <a:off x="685800" y="2590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85800" y="2590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2864365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76400" y="2768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Semgrep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76400" y="30734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676400" y="3120768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</a:t>
            </a:r>
            <a:endParaRPr lang="en-US" sz="1600" dirty="0"/>
          </a:p>
        </p:txBody>
      </p:sp>
      <p:sp>
        <p:nvSpPr>
          <p:cNvPr id="22" name="AutoShape 22"/>
          <p:cNvSpPr/>
          <p:nvPr/>
        </p:nvSpPr>
        <p:spPr>
          <a:xfrm>
            <a:off x="3810000" y="2819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taint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模式整文件扫描，补齐跨函数与框架规则</a:t>
            </a:r>
            <a:endParaRPr lang="en-US" sz="1800" dirty="0"/>
          </a:p>
        </p:txBody>
      </p:sp>
      <p:sp>
        <p:nvSpPr>
          <p:cNvPr id="23" name="AutoShape 23"/>
          <p:cNvSpPr/>
          <p:nvPr/>
        </p:nvSpPr>
        <p:spPr>
          <a:xfrm>
            <a:off x="8890000" y="2819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产出模式匹配候选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685800" y="3606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85800" y="360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346" y="3854278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676400" y="3784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Prefilter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1676400" y="40894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676400" y="41148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30" name="AutoShape 30"/>
          <p:cNvSpPr/>
          <p:nvPr/>
        </p:nvSpPr>
        <p:spPr>
          <a:xfrm>
            <a:off x="3810000" y="3835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高性能正则预筛，毫秒级覆盖硬编码密钥与危险函数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0" y="383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产出确定性问题</a:t>
            </a:r>
            <a:endParaRPr lang="en-US" sz="2000" dirty="0"/>
          </a:p>
        </p:txBody>
      </p:sp>
      <p:sp>
        <p:nvSpPr>
          <p:cNvPr id="32" name="AutoShape 32"/>
          <p:cNvSpPr/>
          <p:nvPr/>
        </p:nvSpPr>
        <p:spPr>
          <a:xfrm>
            <a:off x="685800" y="4622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85800" y="4622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4883665"/>
            <a:ext cx="457200" cy="4572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676400" y="4800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ExternalScanner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676400" y="5105400"/>
            <a:ext cx="482600" cy="3429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676400" y="5151051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3810000" y="4851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封装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Bandit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Gitleaks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Trivy，覆盖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sast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secret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sca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iac</a:t>
            </a:r>
            <a:endParaRPr lang="en-US" sz="1800" dirty="0"/>
          </a:p>
        </p:txBody>
      </p:sp>
      <p:sp>
        <p:nvSpPr>
          <p:cNvPr id="39" name="AutoShape 39"/>
          <p:cNvSpPr/>
          <p:nvPr/>
        </p:nvSpPr>
        <p:spPr>
          <a:xfrm>
            <a:off x="8890000" y="485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产出外部工具结果</a:t>
            </a:r>
            <a:endParaRPr lang="en-US" sz="2000" dirty="0"/>
          </a:p>
        </p:txBody>
      </p:sp>
      <p:sp>
        <p:nvSpPr>
          <p:cNvPr id="40" name="AutoShape 40"/>
          <p:cNvSpPr/>
          <p:nvPr/>
        </p:nvSpPr>
        <p:spPr>
          <a:xfrm>
            <a:off x="685800" y="5641546"/>
            <a:ext cx="10820400" cy="660400"/>
          </a:xfrm>
          <a:prstGeom prst="roundRect">
            <a:avLst>
              <a:gd name="adj" fmla="val 15384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914400" y="5857446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四路候选汇合：去重 + CWE 归一 → 统一证据格式；secret/sca 直出档零 LLM，裁决档送 Stage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0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3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8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6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4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6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3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39" dur="1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3" dur="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2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封闭裁决：把开放作文变成三选一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31561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flipV="1">
            <a:off x="1168400" y="1026000"/>
            <a:ext cx="10718800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12 / 19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1386093"/>
            <a:ext cx="50800" cy="2286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50900" y="1339879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裁决流水线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证据约束下的判别</a:t>
            </a:r>
            <a:endParaRPr lang="en-US" sz="2000" dirty="0"/>
          </a:p>
        </p:txBody>
      </p:sp>
      <p:sp>
        <p:nvSpPr>
          <p:cNvPr id="10" name="AutoShape 10"/>
          <p:cNvSpPr/>
          <p:nvPr/>
        </p:nvSpPr>
        <p:spPr>
          <a:xfrm>
            <a:off x="769550" y="1793068"/>
            <a:ext cx="6393249" cy="643023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18751" y="1803399"/>
            <a:ext cx="50800" cy="584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17600" y="183517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输入</a:t>
            </a:r>
            <a:endParaRPr lang="en-US" sz="1600" dirty="0"/>
          </a:p>
        </p:txBody>
      </p:sp>
      <p:sp>
        <p:nvSpPr>
          <p:cNvPr id="13" name="AutoShape 13"/>
          <p:cNvSpPr/>
          <p:nvPr/>
        </p:nvSpPr>
        <p:spPr>
          <a:xfrm>
            <a:off x="1067486" y="2063092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候选：证据链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行号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代码切片</a:t>
            </a:r>
            <a:endParaRPr lang="en-US" sz="2000" dirty="0"/>
          </a:p>
        </p:txBody>
      </p:sp>
      <p:cxnSp>
        <p:nvCxnSpPr>
          <p:cNvPr id="14" name="Connector 14"/>
          <p:cNvCxnSpPr/>
          <p:nvPr/>
        </p:nvCxnSpPr>
        <p:spPr>
          <a:xfrm rot="5114181">
            <a:off x="3797300" y="2457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5" name="AutoShape 15"/>
          <p:cNvSpPr/>
          <p:nvPr/>
        </p:nvSpPr>
        <p:spPr>
          <a:xfrm>
            <a:off x="715318" y="2532542"/>
            <a:ext cx="6447481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14289" y="2513912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17600" y="256539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1</a:t>
            </a:r>
            <a:endParaRPr lang="en-US" sz="1600" dirty="0"/>
          </a:p>
        </p:txBody>
      </p:sp>
      <p:sp>
        <p:nvSpPr>
          <p:cNvPr id="18" name="AutoShape 18"/>
          <p:cNvSpPr/>
          <p:nvPr/>
        </p:nvSpPr>
        <p:spPr>
          <a:xfrm>
            <a:off x="1054786" y="2786720"/>
            <a:ext cx="6184900" cy="1850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RAG 检索注入对应 CWE 的判据与安全反例（可选开关）</a:t>
            </a:r>
          </a:p>
        </p:txBody>
      </p:sp>
      <p:cxnSp>
        <p:nvCxnSpPr>
          <p:cNvPr id="19" name="Connector 19"/>
          <p:cNvCxnSpPr/>
          <p:nvPr/>
        </p:nvCxnSpPr>
        <p:spPr>
          <a:xfrm rot="5114181">
            <a:off x="3797300" y="3194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744495" y="3302000"/>
            <a:ext cx="6418304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11200" y="33020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117600" y="332247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2</a:t>
            </a:r>
            <a:endParaRPr lang="en-US" sz="1600" dirty="0"/>
          </a:p>
        </p:txBody>
      </p:sp>
      <p:sp>
        <p:nvSpPr>
          <p:cNvPr id="23" name="AutoShape 23"/>
          <p:cNvSpPr/>
          <p:nvPr/>
        </p:nvSpPr>
        <p:spPr>
          <a:xfrm>
            <a:off x="1067486" y="3541209"/>
            <a:ext cx="5968313" cy="2325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CodeSlicer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切出最小相关上下文，拒绝整文件投喂</a:t>
            </a:r>
            <a:endParaRPr lang="en-US" sz="2000" dirty="0"/>
          </a:p>
        </p:txBody>
      </p:sp>
      <p:cxnSp>
        <p:nvCxnSpPr>
          <p:cNvPr id="24" name="Connector 24"/>
          <p:cNvCxnSpPr/>
          <p:nvPr/>
        </p:nvCxnSpPr>
        <p:spPr>
          <a:xfrm rot="5114181">
            <a:off x="3797300" y="39309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25"/>
          <p:cNvSpPr/>
          <p:nvPr/>
        </p:nvSpPr>
        <p:spPr>
          <a:xfrm>
            <a:off x="760627" y="4027725"/>
            <a:ext cx="6402172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09827" y="40259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117600" y="4028194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3</a:t>
            </a:r>
            <a:endParaRPr lang="en-US" sz="1600" dirty="0"/>
          </a:p>
        </p:txBody>
      </p:sp>
      <p:sp>
        <p:nvSpPr>
          <p:cNvPr id="28" name="AutoShape 28"/>
          <p:cNvSpPr/>
          <p:nvPr/>
        </p:nvSpPr>
        <p:spPr>
          <a:xfrm>
            <a:off x="1067486" y="4269494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N=3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次独立采样，多数投票定结论</a:t>
            </a:r>
            <a:endParaRPr lang="en-US" sz="2000" dirty="0"/>
          </a:p>
        </p:txBody>
      </p:sp>
      <p:sp>
        <p:nvSpPr>
          <p:cNvPr id="29" name="AutoShape 29"/>
          <p:cNvSpPr/>
          <p:nvPr/>
        </p:nvSpPr>
        <p:spPr>
          <a:xfrm>
            <a:off x="8890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7EB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97925" y="4786731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C0504D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确认漏洞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带 CWE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编号与理由</a:t>
            </a:r>
            <a:endParaRPr lang="en-US" sz="1600" dirty="0"/>
          </a:p>
        </p:txBody>
      </p:sp>
      <p:sp>
        <p:nvSpPr>
          <p:cNvPr id="32" name="AutoShape 32"/>
          <p:cNvSpPr/>
          <p:nvPr/>
        </p:nvSpPr>
        <p:spPr>
          <a:xfrm>
            <a:off x="29464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E9F2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2955325" y="4777453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确认安全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2946400" y="5072036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高置信否定进抑制池</a:t>
            </a:r>
            <a:endParaRPr lang="en-US" sz="1600" dirty="0"/>
          </a:p>
        </p:txBody>
      </p:sp>
      <p:sp>
        <p:nvSpPr>
          <p:cNvPr id="35" name="AutoShape 35"/>
          <p:cNvSpPr/>
          <p:nvPr/>
        </p:nvSpPr>
        <p:spPr>
          <a:xfrm>
            <a:off x="50038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AF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5012725" y="4771218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  <a:sym typeface="Noto Sans SC"/>
              </a:rPr>
              <a:t>存疑</a:t>
            </a:r>
            <a:endParaRPr lang="en-US" sz="1800" dirty="0"/>
          </a:p>
        </p:txBody>
      </p:sp>
      <p:sp>
        <p:nvSpPr>
          <p:cNvPr id="37" name="AutoShape 37"/>
          <p:cNvSpPr/>
          <p:nvPr/>
        </p:nvSpPr>
        <p:spPr>
          <a:xfrm>
            <a:off x="50038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转人工复核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7315200" y="1455008"/>
            <a:ext cx="4572000" cy="3878992"/>
          </a:xfrm>
          <a:prstGeom prst="roundRect">
            <a:avLst>
              <a:gd name="adj" fmla="val 2649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7289800" y="1498600"/>
            <a:ext cx="50800" cy="38354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7543800" y="1481152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无候选分支</a:t>
            </a:r>
            <a:r>
              <a:rPr lang="en-US" sz="24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不直接放行</a:t>
            </a:r>
            <a:endParaRPr lang="en-US" sz="2400" dirty="0"/>
          </a:p>
        </p:txBody>
      </p:sp>
      <p:sp>
        <p:nvSpPr>
          <p:cNvPr id="41" name="AutoShape 41"/>
          <p:cNvSpPr/>
          <p:nvPr/>
        </p:nvSpPr>
        <p:spPr>
          <a:xfrm>
            <a:off x="7556499" y="201359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7747000" y="190096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三档复核模式</a:t>
            </a:r>
          </a:p>
        </p:txBody>
      </p:sp>
      <p:sp>
        <p:nvSpPr>
          <p:cNvPr id="43" name="AutoShape 43"/>
          <p:cNvSpPr/>
          <p:nvPr/>
        </p:nvSpPr>
        <p:spPr>
          <a:xfrm>
            <a:off x="7721600" y="2239738"/>
            <a:ext cx="4165600" cy="4935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抽样 10% / 定向三档 / 全量复核：</a:t>
            </a:r>
            <a:r>
              <a:rPr lang="zh-CN" altLang="en-US" sz="1800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默认 full_recheck，大仓库批量默认定向</a:t>
            </a:r>
          </a:p>
        </p:txBody>
      </p:sp>
      <p:sp>
        <p:nvSpPr>
          <p:cNvPr id="44" name="AutoShape 44"/>
          <p:cNvSpPr/>
          <p:nvPr/>
        </p:nvSpPr>
        <p:spPr>
          <a:xfrm>
            <a:off x="7552038" y="3124807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7772400" y="301820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强制复核</a:t>
            </a:r>
          </a:p>
        </p:txBody>
      </p:sp>
      <p:sp>
        <p:nvSpPr>
          <p:cNvPr id="46" name="AutoShape 46"/>
          <p:cNvSpPr/>
          <p:nvPr/>
        </p:nvSpPr>
        <p:spPr>
          <a:xfrm>
            <a:off x="7747000" y="3386863"/>
            <a:ext cx="414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抑制池跳过或无主告警剔除的文件，一律无条件强制 LLM 复核，杜绝静默放行</a:t>
            </a:r>
          </a:p>
        </p:txBody>
      </p:sp>
      <p:sp>
        <p:nvSpPr>
          <p:cNvPr id="47" name="AutoShape 47"/>
          <p:cNvSpPr/>
          <p:nvPr/>
        </p:nvSpPr>
        <p:spPr>
          <a:xfrm>
            <a:off x="7543800" y="428607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747000" y="4165600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复核也设门</a:t>
            </a:r>
          </a:p>
        </p:txBody>
      </p:sp>
      <p:sp>
        <p:nvSpPr>
          <p:cNvPr id="49" name="AutoShape 49"/>
          <p:cNvSpPr/>
          <p:nvPr/>
        </p:nvSpPr>
        <p:spPr>
          <a:xfrm>
            <a:off x="7721600" y="4555255"/>
            <a:ext cx="4140200" cy="5065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仅全票判真才采信，且须过形态门与数据流完整性守卫；多数判真转人工</a:t>
            </a:r>
          </a:p>
        </p:txBody>
      </p:sp>
      <p:sp>
        <p:nvSpPr>
          <p:cNvPr id="50" name="AutoShape 50"/>
          <p:cNvSpPr/>
          <p:nvPr/>
        </p:nvSpPr>
        <p:spPr>
          <a:xfrm>
            <a:off x="685800" y="5486400"/>
            <a:ext cx="11201400" cy="812800"/>
          </a:xfrm>
          <a:prstGeom prst="roundRect">
            <a:avLst>
              <a:gd name="adj" fmla="val 1250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990600" y="5524500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WHY IT WORKS ·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封闭裁决</a:t>
            </a: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 vs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开放生成</a:t>
            </a:r>
            <a:endParaRPr lang="en-US" sz="1600" dirty="0"/>
          </a:p>
        </p:txBody>
      </p:sp>
      <p:sp>
        <p:nvSpPr>
          <p:cNvPr id="52" name="AutoShape 52"/>
          <p:cNvSpPr/>
          <p:nvPr/>
        </p:nvSpPr>
        <p:spPr>
          <a:xfrm>
            <a:off x="769550" y="5891980"/>
            <a:ext cx="1104385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F0B8B6"/>
                </a:solidFill>
                <a:latin typeface="Noto Sans SC"/>
                <a:ea typeface="Noto Sans SC"/>
                <a:cs typeface="Noto Sans SC"/>
                <a:sym typeface="Noto Sans SC"/>
              </a:rPr>
              <a:t>开放生成：幻觉不可复现、成本高 → 封闭裁决：可复现、可审计——420 次调用换 strict 0.774→0.923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6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33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82" dur="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6" dur="1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0" dur="1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2">
            <a:extLst>
              <a:ext uri="{FF2B5EF4-FFF2-40B4-BE49-F238E27FC236}">
                <a16:creationId xmlns:a16="http://schemas.microsoft.com/office/drawing/2014/main" id="{5FCAD6C0-951A-4A8D-A7C7-E8216D4C7F0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11587CE6-7E70-4704-8140-D4B9734C0F9E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2.5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代信任层：让系统的每一次“记住”都经过门控</a:t>
            </a:r>
            <a:endParaRPr lang="en-US" sz="2800" dirty="0"/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5BAEB4F5-6C9F-495B-89C7-DE21A853A630}"/>
              </a:ext>
            </a:extLst>
          </p:cNvPr>
          <p:cNvSpPr/>
          <p:nvPr/>
        </p:nvSpPr>
        <p:spPr>
          <a:xfrm>
            <a:off x="685800" y="101072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F0762556-EE9B-4447-92AF-633A3ADC3D84}"/>
              </a:ext>
            </a:extLst>
          </p:cNvPr>
          <p:cNvSpPr/>
          <p:nvPr/>
        </p:nvSpPr>
        <p:spPr>
          <a:xfrm>
            <a:off x="122936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6">
            <a:extLst>
              <a:ext uri="{FF2B5EF4-FFF2-40B4-BE49-F238E27FC236}">
                <a16:creationId xmlns:a16="http://schemas.microsoft.com/office/drawing/2014/main" id="{C20189DA-3EE5-46F6-A2E8-3885C9A505B2}"/>
              </a:ext>
            </a:extLst>
          </p:cNvPr>
          <p:cNvSpPr/>
          <p:nvPr/>
        </p:nvSpPr>
        <p:spPr>
          <a:xfrm>
            <a:off x="628135" y="65520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993CE4-70AD-4BA1-AFFD-98FF6B9EF0A6}"/>
              </a:ext>
            </a:extLst>
          </p:cNvPr>
          <p:cNvGrpSpPr/>
          <p:nvPr/>
        </p:nvGrpSpPr>
        <p:grpSpPr>
          <a:xfrm>
            <a:off x="4849" y="1120174"/>
            <a:ext cx="7792951" cy="5476686"/>
            <a:chOff x="4849" y="1120174"/>
            <a:chExt cx="7792951" cy="5476686"/>
          </a:xfrm>
        </p:grpSpPr>
        <p:pic>
          <p:nvPicPr>
            <p:cNvPr id="34" name="Picture 8">
              <a:extLst>
                <a:ext uri="{FF2B5EF4-FFF2-40B4-BE49-F238E27FC236}">
                  <a16:creationId xmlns:a16="http://schemas.microsoft.com/office/drawing/2014/main" id="{BA81A06C-8845-489E-94A8-9CC95278C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849" y="1120174"/>
              <a:ext cx="7792951" cy="5229036"/>
            </a:xfrm>
            <a:prstGeom prst="roundRect">
              <a:avLst>
                <a:gd name="adj" fmla="val 2222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  <p:sp>
          <p:nvSpPr>
            <p:cNvPr id="35" name="AutoShape 9">
              <a:extLst>
                <a:ext uri="{FF2B5EF4-FFF2-40B4-BE49-F238E27FC236}">
                  <a16:creationId xmlns:a16="http://schemas.microsoft.com/office/drawing/2014/main" id="{A53C2A4D-0211-442B-AA39-9925D5CC074D}"/>
                </a:ext>
              </a:extLst>
            </p:cNvPr>
            <p:cNvSpPr/>
            <p:nvPr/>
          </p:nvSpPr>
          <p:spPr>
            <a:xfrm>
              <a:off x="628135" y="6419060"/>
              <a:ext cx="7112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图：A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–E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分级、四重门控回填与复核兜底的完整信任层实现</a:t>
              </a:r>
              <a:endParaRPr lang="en-US" sz="1100" dirty="0"/>
            </a:p>
          </p:txBody>
        </p:sp>
      </p:grpSp>
      <p:sp>
        <p:nvSpPr>
          <p:cNvPr id="36" name="AutoShape 10">
            <a:extLst>
              <a:ext uri="{FF2B5EF4-FFF2-40B4-BE49-F238E27FC236}">
                <a16:creationId xmlns:a16="http://schemas.microsoft.com/office/drawing/2014/main" id="{664DFDDF-E6EF-48E5-93B0-0DFAEC8556C5}"/>
              </a:ext>
            </a:extLst>
          </p:cNvPr>
          <p:cNvSpPr/>
          <p:nvPr/>
        </p:nvSpPr>
        <p:spPr>
          <a:xfrm>
            <a:off x="8077200" y="1047049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TRUST LAYER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三道关</a:t>
            </a:r>
            <a:endParaRPr lang="en-US" sz="20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8AB9F16-BFF5-499A-BD43-A0D564E39589}"/>
              </a:ext>
            </a:extLst>
          </p:cNvPr>
          <p:cNvGrpSpPr/>
          <p:nvPr/>
        </p:nvGrpSpPr>
        <p:grpSpPr>
          <a:xfrm>
            <a:off x="8077200" y="1384376"/>
            <a:ext cx="3801762" cy="1380818"/>
            <a:chOff x="8077200" y="1384376"/>
            <a:chExt cx="3801762" cy="1380818"/>
          </a:xfrm>
        </p:grpSpPr>
        <p:sp>
          <p:nvSpPr>
            <p:cNvPr id="37" name="AutoShape 11">
              <a:extLst>
                <a:ext uri="{FF2B5EF4-FFF2-40B4-BE49-F238E27FC236}">
                  <a16:creationId xmlns:a16="http://schemas.microsoft.com/office/drawing/2014/main" id="{A4A5F55B-68E9-4631-970A-F6CBA222C3B7}"/>
                </a:ext>
              </a:extLst>
            </p:cNvPr>
            <p:cNvSpPr/>
            <p:nvPr/>
          </p:nvSpPr>
          <p:spPr>
            <a:xfrm>
              <a:off x="8077200" y="1391062"/>
              <a:ext cx="3801762" cy="1374132"/>
            </a:xfrm>
            <a:prstGeom prst="roundRect">
              <a:avLst>
                <a:gd name="adj" fmla="val 9302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12">
              <a:extLst>
                <a:ext uri="{FF2B5EF4-FFF2-40B4-BE49-F238E27FC236}">
                  <a16:creationId xmlns:a16="http://schemas.microsoft.com/office/drawing/2014/main" id="{AD61E38B-480C-4A81-9F37-7356448C1147}"/>
                </a:ext>
              </a:extLst>
            </p:cNvPr>
            <p:cNvSpPr/>
            <p:nvPr/>
          </p:nvSpPr>
          <p:spPr>
            <a:xfrm>
              <a:off x="8082281" y="1397127"/>
              <a:ext cx="45719" cy="1362002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13">
              <a:extLst>
                <a:ext uri="{FF2B5EF4-FFF2-40B4-BE49-F238E27FC236}">
                  <a16:creationId xmlns:a16="http://schemas.microsoft.com/office/drawing/2014/main" id="{DEC897FE-432D-400E-AB19-66E07C6C3759}"/>
                </a:ext>
              </a:extLst>
            </p:cNvPr>
            <p:cNvSpPr/>
            <p:nvPr/>
          </p:nvSpPr>
          <p:spPr>
            <a:xfrm>
              <a:off x="8267700" y="1384376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输出分级</a:t>
              </a:r>
              <a:endParaRPr lang="en-US" sz="2000" dirty="0"/>
            </a:p>
          </p:txBody>
        </p:sp>
        <p:sp>
          <p:nvSpPr>
            <p:cNvPr id="40" name="AutoShape 14">
              <a:extLst>
                <a:ext uri="{FF2B5EF4-FFF2-40B4-BE49-F238E27FC236}">
                  <a16:creationId xmlns:a16="http://schemas.microsoft.com/office/drawing/2014/main" id="{E91294EE-693F-45DE-889C-75B588BBD47A}"/>
                </a:ext>
              </a:extLst>
            </p:cNvPr>
            <p:cNvSpPr/>
            <p:nvPr/>
          </p:nvSpPr>
          <p:spPr>
            <a:xfrm>
              <a:off x="8254999" y="1707339"/>
              <a:ext cx="3459205" cy="56765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裁决结果分 A–E 五级：判对归因对→回填；判对归因错→只回填判定；碰巧对→拦截；误报→抑制池；漏报→无输出可回填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1744C45-AF83-4DD5-B91C-FFD9EA54F32F}"/>
              </a:ext>
            </a:extLst>
          </p:cNvPr>
          <p:cNvGrpSpPr/>
          <p:nvPr/>
        </p:nvGrpSpPr>
        <p:grpSpPr>
          <a:xfrm>
            <a:off x="8077200" y="2884098"/>
            <a:ext cx="3801762" cy="1306902"/>
            <a:chOff x="8077200" y="2884098"/>
            <a:chExt cx="3801762" cy="1306902"/>
          </a:xfrm>
        </p:grpSpPr>
        <p:sp>
          <p:nvSpPr>
            <p:cNvPr id="41" name="AutoShape 15">
              <a:extLst>
                <a:ext uri="{FF2B5EF4-FFF2-40B4-BE49-F238E27FC236}">
                  <a16:creationId xmlns:a16="http://schemas.microsoft.com/office/drawing/2014/main" id="{2288D43E-0BE5-4EC9-9781-D2A74A7FFFFA}"/>
                </a:ext>
              </a:extLst>
            </p:cNvPr>
            <p:cNvSpPr/>
            <p:nvPr/>
          </p:nvSpPr>
          <p:spPr>
            <a:xfrm>
              <a:off x="8077200" y="2884098"/>
              <a:ext cx="3801762" cy="1261404"/>
            </a:xfrm>
            <a:prstGeom prst="roundRect">
              <a:avLst>
                <a:gd name="adj" fmla="val 9302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16">
              <a:extLst>
                <a:ext uri="{FF2B5EF4-FFF2-40B4-BE49-F238E27FC236}">
                  <a16:creationId xmlns:a16="http://schemas.microsoft.com/office/drawing/2014/main" id="{95C506A5-16A7-4B7E-AFE3-689DB5C46D8D}"/>
                </a:ext>
              </a:extLst>
            </p:cNvPr>
            <p:cNvSpPr/>
            <p:nvPr/>
          </p:nvSpPr>
          <p:spPr>
            <a:xfrm>
              <a:off x="8082280" y="2891487"/>
              <a:ext cx="45719" cy="1299513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17">
              <a:extLst>
                <a:ext uri="{FF2B5EF4-FFF2-40B4-BE49-F238E27FC236}">
                  <a16:creationId xmlns:a16="http://schemas.microsoft.com/office/drawing/2014/main" id="{79AE235D-3C7B-4BCA-B8CC-3E521A55F282}"/>
                </a:ext>
              </a:extLst>
            </p:cNvPr>
            <p:cNvSpPr/>
            <p:nvPr/>
          </p:nvSpPr>
          <p:spPr>
            <a:xfrm>
              <a:off x="8267700" y="2891487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回填门控</a:t>
              </a:r>
              <a:endParaRPr lang="en-US" sz="2000" dirty="0"/>
            </a:p>
          </p:txBody>
        </p:sp>
        <p:sp>
          <p:nvSpPr>
            <p:cNvPr id="44" name="AutoShape 18">
              <a:extLst>
                <a:ext uri="{FF2B5EF4-FFF2-40B4-BE49-F238E27FC236}">
                  <a16:creationId xmlns:a16="http://schemas.microsoft.com/office/drawing/2014/main" id="{44EFE49E-3B59-4C6F-83D3-7E1851866026}"/>
                </a:ext>
              </a:extLst>
            </p:cNvPr>
            <p:cNvSpPr/>
            <p:nvPr/>
          </p:nvSpPr>
          <p:spPr>
            <a:xfrm>
              <a:off x="8254999" y="3189835"/>
              <a:ext cx="3446504" cy="558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全票门槛 · 跨样本聚合（≥2 独立文件）· 双向可撤销 · 独立验证四重门控，全过才写入记忆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C28874E-F966-487A-915F-CE78DEFDC9E1}"/>
              </a:ext>
            </a:extLst>
          </p:cNvPr>
          <p:cNvGrpSpPr/>
          <p:nvPr/>
        </p:nvGrpSpPr>
        <p:grpSpPr>
          <a:xfrm>
            <a:off x="8077200" y="4317999"/>
            <a:ext cx="3801762" cy="1357685"/>
            <a:chOff x="8077200" y="4317999"/>
            <a:chExt cx="3801762" cy="1357685"/>
          </a:xfrm>
        </p:grpSpPr>
        <p:sp>
          <p:nvSpPr>
            <p:cNvPr id="45" name="AutoShape 19">
              <a:extLst>
                <a:ext uri="{FF2B5EF4-FFF2-40B4-BE49-F238E27FC236}">
                  <a16:creationId xmlns:a16="http://schemas.microsoft.com/office/drawing/2014/main" id="{8F56D7A5-7103-4C2B-A7E0-F430843E0970}"/>
                </a:ext>
              </a:extLst>
            </p:cNvPr>
            <p:cNvSpPr/>
            <p:nvPr/>
          </p:nvSpPr>
          <p:spPr>
            <a:xfrm>
              <a:off x="8077200" y="4317999"/>
              <a:ext cx="3801762" cy="1357685"/>
            </a:xfrm>
            <a:prstGeom prst="roundRect">
              <a:avLst>
                <a:gd name="adj" fmla="val 9302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20">
              <a:extLst>
                <a:ext uri="{FF2B5EF4-FFF2-40B4-BE49-F238E27FC236}">
                  <a16:creationId xmlns:a16="http://schemas.microsoft.com/office/drawing/2014/main" id="{FD1D6755-222B-4FE3-8C9D-33C3B4EF322B}"/>
                </a:ext>
              </a:extLst>
            </p:cNvPr>
            <p:cNvSpPr/>
            <p:nvPr/>
          </p:nvSpPr>
          <p:spPr>
            <a:xfrm>
              <a:off x="8077200" y="4318000"/>
              <a:ext cx="45719" cy="1357684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21">
              <a:extLst>
                <a:ext uri="{FF2B5EF4-FFF2-40B4-BE49-F238E27FC236}">
                  <a16:creationId xmlns:a16="http://schemas.microsoft.com/office/drawing/2014/main" id="{2B5C1857-0867-4EE4-B332-9536A4E1D5AC}"/>
                </a:ext>
              </a:extLst>
            </p:cNvPr>
            <p:cNvSpPr/>
            <p:nvPr/>
          </p:nvSpPr>
          <p:spPr>
            <a:xfrm>
              <a:off x="8254999" y="4369440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复核兜底</a:t>
              </a:r>
              <a:endParaRPr lang="en-US" sz="2000" dirty="0"/>
            </a:p>
          </p:txBody>
        </p:sp>
        <p:sp>
          <p:nvSpPr>
            <p:cNvPr id="48" name="AutoShape 22">
              <a:extLst>
                <a:ext uri="{FF2B5EF4-FFF2-40B4-BE49-F238E27FC236}">
                  <a16:creationId xmlns:a16="http://schemas.microsoft.com/office/drawing/2014/main" id="{A5305535-9BD3-49F3-A969-6CCC2091DA79}"/>
                </a:ext>
              </a:extLst>
            </p:cNvPr>
            <p:cNvSpPr/>
            <p:nvPr/>
          </p:nvSpPr>
          <p:spPr>
            <a:xfrm>
              <a:off x="8267700" y="4699619"/>
              <a:ext cx="3433804" cy="558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抑制池压制已知误报，自有链级规则永不入池；无候选分支抽样 + 全量复核双保险</a:t>
              </a:r>
            </a:p>
          </p:txBody>
        </p:sp>
      </p:grpSp>
      <p:sp>
        <p:nvSpPr>
          <p:cNvPr id="49" name="AutoShape 23">
            <a:extLst>
              <a:ext uri="{FF2B5EF4-FFF2-40B4-BE49-F238E27FC236}">
                <a16:creationId xmlns:a16="http://schemas.microsoft.com/office/drawing/2014/main" id="{BB81FC86-A688-4644-892F-AFA02D11E721}"/>
              </a:ext>
            </a:extLst>
          </p:cNvPr>
          <p:cNvSpPr/>
          <p:nvPr/>
        </p:nvSpPr>
        <p:spPr>
          <a:xfrm>
            <a:off x="8077200" y="5763670"/>
            <a:ext cx="3801762" cy="1033271"/>
          </a:xfrm>
          <a:prstGeom prst="roundRect">
            <a:avLst>
              <a:gd name="adj" fmla="val 1379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2" name="Chart 25">
            <a:extLst>
              <a:ext uri="{FF2B5EF4-FFF2-40B4-BE49-F238E27FC236}">
                <a16:creationId xmlns:a16="http://schemas.microsoft.com/office/drawing/2014/main" id="{B463ED71-FD06-4070-9FFB-AD25B411B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6349"/>
              </p:ext>
            </p:extLst>
          </p:nvPr>
        </p:nvGraphicFramePr>
        <p:xfrm>
          <a:off x="8102600" y="5852613"/>
          <a:ext cx="105156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1CFE6A6B-8072-41FF-9E0F-C9D950CB8479}"/>
              </a:ext>
            </a:extLst>
          </p:cNvPr>
          <p:cNvGrpSpPr/>
          <p:nvPr/>
        </p:nvGrpSpPr>
        <p:grpSpPr>
          <a:xfrm>
            <a:off x="8376265" y="5772270"/>
            <a:ext cx="3602238" cy="1185664"/>
            <a:chOff x="8376265" y="5772270"/>
            <a:chExt cx="3602238" cy="1185664"/>
          </a:xfrm>
        </p:grpSpPr>
        <p:sp>
          <p:nvSpPr>
            <p:cNvPr id="51" name="AutoShape 25">
              <a:extLst>
                <a:ext uri="{FF2B5EF4-FFF2-40B4-BE49-F238E27FC236}">
                  <a16:creationId xmlns:a16="http://schemas.microsoft.com/office/drawing/2014/main" id="{280C4409-09DE-4E52-B5C7-B3750D40328B}"/>
                </a:ext>
              </a:extLst>
            </p:cNvPr>
            <p:cNvSpPr/>
            <p:nvPr/>
          </p:nvSpPr>
          <p:spPr>
            <a:xfrm>
              <a:off x="9344042" y="6409294"/>
              <a:ext cx="2194560" cy="5486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0.154 → 0.0435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-72%</a:t>
              </a:r>
              <a:endParaRPr lang="en-US" sz="1600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4CEF3AF-51A0-4C2A-B93B-029E35014628}"/>
                </a:ext>
              </a:extLst>
            </p:cNvPr>
            <p:cNvGrpSpPr/>
            <p:nvPr/>
          </p:nvGrpSpPr>
          <p:grpSpPr>
            <a:xfrm>
              <a:off x="8376265" y="5772270"/>
              <a:ext cx="3602238" cy="596483"/>
              <a:chOff x="8376265" y="5772270"/>
              <a:chExt cx="3602238" cy="596483"/>
            </a:xfrm>
          </p:grpSpPr>
          <p:sp>
            <p:nvSpPr>
              <p:cNvPr id="50" name="AutoShape 24">
                <a:extLst>
                  <a:ext uri="{FF2B5EF4-FFF2-40B4-BE49-F238E27FC236}">
                    <a16:creationId xmlns:a16="http://schemas.microsoft.com/office/drawing/2014/main" id="{FD11FEE4-43A4-493C-BCDA-329DB9AAE016}"/>
                  </a:ext>
                </a:extLst>
              </p:cNvPr>
              <p:cNvSpPr/>
              <p:nvPr/>
            </p:nvSpPr>
            <p:spPr>
              <a:xfrm>
                <a:off x="9179560" y="6070050"/>
                <a:ext cx="2798943" cy="29870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误报率</a:t>
                </a:r>
                <a:r>
                  <a:rPr lang="en-US" sz="1600" b="0" i="0" u="none" strike="noStrike" dirty="0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FPR（87 </a:t>
                </a:r>
                <a:r>
                  <a:rPr lang="en-US" sz="1600" b="0" i="0" u="none" strike="noStrike" dirty="0" err="1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合成集实测</a:t>
                </a:r>
                <a:r>
                  <a:rPr lang="en-US" sz="1600" b="0" i="0" u="none" strike="noStrike" dirty="0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）</a:t>
                </a:r>
                <a:endParaRPr lang="en-US" sz="1600" dirty="0"/>
              </a:p>
            </p:txBody>
          </p:sp>
          <p:sp>
            <p:nvSpPr>
              <p:cNvPr id="53" name="TextBox 26">
                <a:extLst>
                  <a:ext uri="{FF2B5EF4-FFF2-40B4-BE49-F238E27FC236}">
                    <a16:creationId xmlns:a16="http://schemas.microsoft.com/office/drawing/2014/main" id="{D7AACAA4-5A17-41EA-9252-E89478888F49}"/>
                  </a:ext>
                </a:extLst>
              </p:cNvPr>
              <p:cNvSpPr txBox="1"/>
              <p:nvPr/>
            </p:nvSpPr>
            <p:spPr>
              <a:xfrm>
                <a:off x="8376265" y="5772270"/>
                <a:ext cx="581891" cy="24622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sz="1600" b="1" dirty="0">
                    <a:solidFill>
                      <a:srgbClr val="D9962E"/>
                    </a:solidFill>
                  </a:rPr>
                  <a:t>4.35%</a:t>
                </a:r>
              </a:p>
            </p:txBody>
          </p:sp>
        </p:grpSp>
      </p:grpSp>
      <p:sp>
        <p:nvSpPr>
          <p:cNvPr id="33" name="AutoShape 7">
            <a:extLst>
              <a:ext uri="{FF2B5EF4-FFF2-40B4-BE49-F238E27FC236}">
                <a16:creationId xmlns:a16="http://schemas.microsoft.com/office/drawing/2014/main" id="{FC907FBD-4F34-43EC-BDD6-9AC02EF3B9B1}"/>
              </a:ext>
            </a:extLst>
          </p:cNvPr>
          <p:cNvSpPr/>
          <p:nvPr/>
        </p:nvSpPr>
        <p:spPr>
          <a:xfrm>
            <a:off x="7164000" y="65520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13 / 19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">
                                      <p:cBhvr>
                                        <p:cTn id="37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自研工具链：8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个组件串成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SARIF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标准产出流水线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17 / 19</a:t>
            </a:r>
            <a:endParaRPr lang="en-US" sz="1100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FB47FFD-521A-4D87-ABBD-690EF6BACE94}"/>
              </a:ext>
            </a:extLst>
          </p:cNvPr>
          <p:cNvGrpSpPr/>
          <p:nvPr/>
        </p:nvGrpSpPr>
        <p:grpSpPr>
          <a:xfrm>
            <a:off x="684085" y="1568394"/>
            <a:ext cx="2910016" cy="1440141"/>
            <a:chOff x="684085" y="1568394"/>
            <a:chExt cx="2910016" cy="1440141"/>
          </a:xfrm>
        </p:grpSpPr>
        <p:sp>
          <p:nvSpPr>
            <p:cNvPr id="8" name="AutoShape 8"/>
            <p:cNvSpPr/>
            <p:nvPr/>
          </p:nvSpPr>
          <p:spPr>
            <a:xfrm>
              <a:off x="685403" y="1576213"/>
              <a:ext cx="2527696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684085" y="1582563"/>
              <a:ext cx="45719" cy="1349772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889000" y="1568394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2400" dirty="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89000" y="1917668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TaintTracker</a:t>
              </a:r>
              <a:endParaRPr lang="en-US" sz="2000" dirty="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887285" y="2222468"/>
              <a:ext cx="2706816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AST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污点追踪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source→sink</a:t>
              </a:r>
              <a:endParaRPr lang="en-US" sz="1800" dirty="0"/>
            </a:p>
          </p:txBody>
        </p:sp>
        <p:cxnSp>
          <p:nvCxnSpPr>
            <p:cNvPr id="13" name="Connector 13"/>
            <p:cNvCxnSpPr/>
            <p:nvPr/>
          </p:nvCxnSpPr>
          <p:spPr>
            <a:xfrm rot="-245137">
              <a:off x="3213326" y="2203450"/>
              <a:ext cx="177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C3E7143-E63F-4FAC-A23C-FDB9B488FEC4}"/>
              </a:ext>
            </a:extLst>
          </p:cNvPr>
          <p:cNvGrpSpPr/>
          <p:nvPr/>
        </p:nvGrpSpPr>
        <p:grpSpPr>
          <a:xfrm>
            <a:off x="3403600" y="1563316"/>
            <a:ext cx="2705326" cy="1445195"/>
            <a:chOff x="3403600" y="1563316"/>
            <a:chExt cx="2705326" cy="1445195"/>
          </a:xfrm>
        </p:grpSpPr>
        <p:sp>
          <p:nvSpPr>
            <p:cNvPr id="14" name="AutoShape 14"/>
            <p:cNvSpPr/>
            <p:nvPr/>
          </p:nvSpPr>
          <p:spPr>
            <a:xfrm>
              <a:off x="3403600" y="1576189"/>
              <a:ext cx="2514600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408680" y="1582563"/>
              <a:ext cx="45719" cy="1387824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606800" y="1563316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2400" dirty="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3587578" y="1971781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Prefilter</a:t>
              </a:r>
              <a:endParaRPr lang="en-US" sz="20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3594101" y="2394656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正则预筛确定性问题</a:t>
              </a:r>
              <a:endParaRPr lang="en-US" sz="1800" dirty="0"/>
            </a:p>
          </p:txBody>
        </p:sp>
        <p:cxnSp>
          <p:nvCxnSpPr>
            <p:cNvPr id="19" name="Connector 19"/>
            <p:cNvCxnSpPr/>
            <p:nvPr/>
          </p:nvCxnSpPr>
          <p:spPr>
            <a:xfrm rot="-245137">
              <a:off x="5931126" y="2203450"/>
              <a:ext cx="177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CD2EA61A-B630-45D4-9154-BA95F5C822AF}"/>
              </a:ext>
            </a:extLst>
          </p:cNvPr>
          <p:cNvGrpSpPr/>
          <p:nvPr/>
        </p:nvGrpSpPr>
        <p:grpSpPr>
          <a:xfrm>
            <a:off x="6121400" y="1555706"/>
            <a:ext cx="2705326" cy="1452805"/>
            <a:chOff x="6121400" y="1555706"/>
            <a:chExt cx="2705326" cy="1452805"/>
          </a:xfrm>
        </p:grpSpPr>
        <p:sp>
          <p:nvSpPr>
            <p:cNvPr id="20" name="AutoShape 20"/>
            <p:cNvSpPr/>
            <p:nvPr/>
          </p:nvSpPr>
          <p:spPr>
            <a:xfrm>
              <a:off x="6121400" y="1576189"/>
              <a:ext cx="2514600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126480" y="1582563"/>
              <a:ext cx="45720" cy="142594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6311900" y="1555706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2400" dirty="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308523" y="1892268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ExternalScanner</a:t>
              </a:r>
              <a:endParaRPr lang="en-US" sz="2000" dirty="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6312930" y="2273268"/>
              <a:ext cx="242467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封装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Bandit/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Gitleaks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/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Trivy</a:t>
              </a:r>
              <a:endParaRPr lang="en-US" sz="1800" dirty="0"/>
            </a:p>
          </p:txBody>
        </p:sp>
        <p:cxnSp>
          <p:nvCxnSpPr>
            <p:cNvPr id="25" name="Connector 25"/>
            <p:cNvCxnSpPr/>
            <p:nvPr/>
          </p:nvCxnSpPr>
          <p:spPr>
            <a:xfrm rot="-245137">
              <a:off x="8648926" y="2203450"/>
              <a:ext cx="1778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D4663C31-2B75-45FD-8CD2-F739FD10C0AE}"/>
              </a:ext>
            </a:extLst>
          </p:cNvPr>
          <p:cNvGrpSpPr/>
          <p:nvPr/>
        </p:nvGrpSpPr>
        <p:grpSpPr>
          <a:xfrm>
            <a:off x="685800" y="3516535"/>
            <a:ext cx="2514600" cy="1327314"/>
            <a:chOff x="685800" y="3516535"/>
            <a:chExt cx="2514600" cy="1327314"/>
          </a:xfrm>
        </p:grpSpPr>
        <p:sp>
          <p:nvSpPr>
            <p:cNvPr id="46" name="AutoShape 46"/>
            <p:cNvSpPr/>
            <p:nvPr/>
          </p:nvSpPr>
          <p:spPr>
            <a:xfrm>
              <a:off x="685800" y="3516535"/>
              <a:ext cx="2514600" cy="1327314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701195" y="3529259"/>
              <a:ext cx="45719" cy="131459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914400" y="3570736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08</a:t>
              </a:r>
              <a:endParaRPr lang="en-US" sz="2400" dirty="0"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914003" y="3981067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FixVerifier</a:t>
              </a:r>
              <a:endParaRPr lang="en-US" sz="2000" dirty="0"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914003" y="4327612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修复建议可验证</a:t>
              </a:r>
              <a:endParaRPr lang="en-US" sz="1800" dirty="0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B444B65-7A09-4AC5-8B3D-12AF03126342}"/>
              </a:ext>
            </a:extLst>
          </p:cNvPr>
          <p:cNvGrpSpPr/>
          <p:nvPr/>
        </p:nvGrpSpPr>
        <p:grpSpPr>
          <a:xfrm>
            <a:off x="8839200" y="1576189"/>
            <a:ext cx="2514600" cy="2056105"/>
            <a:chOff x="8839200" y="1576189"/>
            <a:chExt cx="2514600" cy="2056105"/>
          </a:xfrm>
        </p:grpSpPr>
        <p:sp>
          <p:nvSpPr>
            <p:cNvPr id="26" name="AutoShape 26"/>
            <p:cNvSpPr/>
            <p:nvPr/>
          </p:nvSpPr>
          <p:spPr>
            <a:xfrm>
              <a:off x="8839200" y="1576189"/>
              <a:ext cx="2514600" cy="143232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8839200" y="1582563"/>
              <a:ext cx="45719" cy="142594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9042400" y="1581159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2400" dirty="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9042400" y="1966414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CodeSlicer</a:t>
              </a:r>
              <a:endParaRPr lang="en-US" sz="2000" dirty="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9042400" y="2394656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最小相关上下文切片</a:t>
              </a:r>
              <a:endParaRPr lang="en-US" sz="1800" dirty="0"/>
            </a:p>
          </p:txBody>
        </p:sp>
        <p:cxnSp>
          <p:nvCxnSpPr>
            <p:cNvPr id="51" name="Connector 51"/>
            <p:cNvCxnSpPr>
              <a:stCxn id="26" idx="2"/>
            </p:cNvCxnSpPr>
            <p:nvPr/>
          </p:nvCxnSpPr>
          <p:spPr>
            <a:xfrm>
              <a:off x="10096500" y="3008511"/>
              <a:ext cx="0" cy="62378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8EAC2E99-47C6-445D-ACDB-B68DEBCE403C}"/>
              </a:ext>
            </a:extLst>
          </p:cNvPr>
          <p:cNvGrpSpPr/>
          <p:nvPr/>
        </p:nvGrpSpPr>
        <p:grpSpPr>
          <a:xfrm>
            <a:off x="8635802" y="3516511"/>
            <a:ext cx="2717998" cy="1327338"/>
            <a:chOff x="8635802" y="3516511"/>
            <a:chExt cx="2717998" cy="1327338"/>
          </a:xfrm>
        </p:grpSpPr>
        <p:sp>
          <p:nvSpPr>
            <p:cNvPr id="31" name="AutoShape 31"/>
            <p:cNvSpPr/>
            <p:nvPr/>
          </p:nvSpPr>
          <p:spPr>
            <a:xfrm>
              <a:off x="8839200" y="3516511"/>
              <a:ext cx="2514600" cy="1327338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8839200" y="3516511"/>
              <a:ext cx="45720" cy="1327338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9029700" y="3559432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</a:t>
              </a:r>
              <a:endParaRPr lang="en-US" sz="2400" dirty="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9042400" y="3975101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LLM Judge</a:t>
              </a:r>
              <a:endParaRPr lang="en-US" sz="2000" dirty="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9042400" y="4331387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封闭裁决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N=3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投票</a:t>
              </a:r>
              <a:endParaRPr lang="en-US" sz="1800" dirty="0"/>
            </a:p>
          </p:txBody>
        </p:sp>
        <p:cxnSp>
          <p:nvCxnSpPr>
            <p:cNvPr id="52" name="Connector 52"/>
            <p:cNvCxnSpPr/>
            <p:nvPr/>
          </p:nvCxnSpPr>
          <p:spPr>
            <a:xfrm rot="10585419">
              <a:off x="8635802" y="4184650"/>
              <a:ext cx="203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863BA410-5894-49C9-A4FA-8360BC47FE84}"/>
              </a:ext>
            </a:extLst>
          </p:cNvPr>
          <p:cNvGrpSpPr/>
          <p:nvPr/>
        </p:nvGrpSpPr>
        <p:grpSpPr>
          <a:xfrm>
            <a:off x="5918002" y="3478387"/>
            <a:ext cx="2717998" cy="1365462"/>
            <a:chOff x="5918002" y="3478387"/>
            <a:chExt cx="2717998" cy="1365462"/>
          </a:xfrm>
        </p:grpSpPr>
        <p:sp>
          <p:nvSpPr>
            <p:cNvPr id="36" name="AutoShape 36"/>
            <p:cNvSpPr/>
            <p:nvPr/>
          </p:nvSpPr>
          <p:spPr>
            <a:xfrm>
              <a:off x="6172200" y="3478387"/>
              <a:ext cx="2463800" cy="1365462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121400" y="3516511"/>
              <a:ext cx="45719" cy="132733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6331808" y="3554611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06</a:t>
              </a:r>
              <a:endParaRPr lang="en-US" sz="2400" dirty="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6324600" y="3975101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CWE Normalizer</a:t>
              </a:r>
              <a:endParaRPr lang="en-US" sz="2000" dirty="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6324600" y="4334117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CWE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编号归一去重</a:t>
              </a:r>
              <a:endParaRPr lang="en-US" sz="1800" dirty="0"/>
            </a:p>
          </p:txBody>
        </p:sp>
        <p:cxnSp>
          <p:nvCxnSpPr>
            <p:cNvPr id="53" name="Connector 53"/>
            <p:cNvCxnSpPr/>
            <p:nvPr/>
          </p:nvCxnSpPr>
          <p:spPr>
            <a:xfrm rot="10585419">
              <a:off x="5918002" y="4184650"/>
              <a:ext cx="203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4A94FB23-546C-432C-8214-D12B84709762}"/>
              </a:ext>
            </a:extLst>
          </p:cNvPr>
          <p:cNvGrpSpPr/>
          <p:nvPr/>
        </p:nvGrpSpPr>
        <p:grpSpPr>
          <a:xfrm>
            <a:off x="3200202" y="3478387"/>
            <a:ext cx="2717998" cy="1365462"/>
            <a:chOff x="3200202" y="3478387"/>
            <a:chExt cx="2717998" cy="1365462"/>
          </a:xfrm>
        </p:grpSpPr>
        <p:sp>
          <p:nvSpPr>
            <p:cNvPr id="41" name="AutoShape 41"/>
            <p:cNvSpPr/>
            <p:nvPr/>
          </p:nvSpPr>
          <p:spPr>
            <a:xfrm>
              <a:off x="3403600" y="3516511"/>
              <a:ext cx="2514600" cy="1327338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3408680" y="3478387"/>
              <a:ext cx="45719" cy="1365462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3606800" y="3564892"/>
              <a:ext cx="76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07</a:t>
              </a:r>
              <a:endParaRPr lang="en-US" sz="2400" dirty="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3594101" y="3972012"/>
              <a:ext cx="22098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LineNormalizer</a:t>
              </a:r>
              <a:endParaRPr lang="en-US" sz="2000" dirty="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3594101" y="4327612"/>
              <a:ext cx="22098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行号级证据对齐</a:t>
              </a:r>
              <a:endParaRPr lang="en-US" sz="1800" dirty="0"/>
            </a:p>
          </p:txBody>
        </p:sp>
        <p:cxnSp>
          <p:nvCxnSpPr>
            <p:cNvPr id="54" name="Connector 54"/>
            <p:cNvCxnSpPr/>
            <p:nvPr/>
          </p:nvCxnSpPr>
          <p:spPr>
            <a:xfrm rot="10585419">
              <a:off x="3200202" y="4184650"/>
              <a:ext cx="2032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96A2AC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0C019C4-3948-49B0-9408-A9ED8E6DE775}"/>
              </a:ext>
            </a:extLst>
          </p:cNvPr>
          <p:cNvGrpSpPr/>
          <p:nvPr/>
        </p:nvGrpSpPr>
        <p:grpSpPr>
          <a:xfrm>
            <a:off x="685800" y="5181600"/>
            <a:ext cx="10820400" cy="787400"/>
            <a:chOff x="685800" y="5181600"/>
            <a:chExt cx="10820400" cy="787400"/>
          </a:xfrm>
        </p:grpSpPr>
        <p:sp>
          <p:nvSpPr>
            <p:cNvPr id="55" name="AutoShape 55"/>
            <p:cNvSpPr/>
            <p:nvPr/>
          </p:nvSpPr>
          <p:spPr>
            <a:xfrm>
              <a:off x="685800" y="5181600"/>
              <a:ext cx="10820400" cy="787400"/>
            </a:xfrm>
            <a:prstGeom prst="roundRect">
              <a:avLst>
                <a:gd name="adj" fmla="val 1290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dirty="0"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990600" y="5218303"/>
              <a:ext cx="6350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统一输出</a:t>
              </a:r>
              <a:endParaRPr lang="en-US" sz="1600" dirty="0"/>
            </a:p>
          </p:txBody>
        </p:sp>
        <p:sp>
          <p:nvSpPr>
            <p:cNvPr id="57" name="AutoShape 57"/>
            <p:cNvSpPr/>
            <p:nvPr/>
          </p:nvSpPr>
          <p:spPr>
            <a:xfrm>
              <a:off x="990600" y="5547034"/>
              <a:ext cx="10414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SARIF 2.1.0：行号 · CWE · 证据链 · 置信度 · 修复建议，VS Code 与 CI 原生可消费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7" dur="8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2" dur="8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47" dur="1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项目的价值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核心结果 · 误报 -72%、召回升到 1.000、严格归因 0.774→0.923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 dirty="0">
                <a:solidFill>
                  <a:srgbClr val="96A2AC"/>
                </a:solidFill>
                <a:latin typeface="Roboto Mono"/>
                <a:ea typeface="Roboto Mono"/>
                <a:cs typeface="Roboto Mono"/>
                <a:sym typeface="Roboto Mono"/>
              </a:rPr>
              <a:t>14 / 19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85800" y="1471999"/>
            <a:ext cx="7061200" cy="509201"/>
          </a:xfrm>
          <a:prstGeom prst="roundRect">
            <a:avLst>
              <a:gd name="adj" fmla="val 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87400" y="1612900"/>
            <a:ext cx="175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指标 ＼ 组态 / 测试集</a:t>
            </a:r>
            <a:endParaRPr lang="en-US" sz="1600" dirty="0"/>
          </a:p>
        </p:txBody>
      </p:sp>
      <p:sp>
        <p:nvSpPr>
          <p:cNvPr id="11" name="AutoShape 11"/>
          <p:cNvSpPr/>
          <p:nvPr/>
        </p:nvSpPr>
        <p:spPr>
          <a:xfrm>
            <a:off x="2692400" y="16129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纯 LLM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α0.5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751992" y="1608418"/>
            <a:ext cx="1595566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</a:t>
            </a:r>
            <a:r>
              <a:rPr lang="en-US" altLang="zh-CN" sz="1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α0.5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fixed5 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194334" y="1560945"/>
            <a:ext cx="1187382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迭代架构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wave8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480209" y="16002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CVE-fix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 段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简单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85800" y="19812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" y="20828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Recall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召回</a:t>
            </a:r>
            <a:endParaRPr lang="en-US" sz="1800" dirty="0"/>
          </a:p>
        </p:txBody>
      </p:sp>
      <p:sp>
        <p:nvSpPr>
          <p:cNvPr id="17" name="AutoShape 17"/>
          <p:cNvSpPr/>
          <p:nvPr/>
        </p:nvSpPr>
        <p:spPr>
          <a:xfrm>
            <a:off x="25908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0.967</a:t>
            </a:r>
            <a:endParaRPr lang="en-US" sz="1800" dirty="0"/>
          </a:p>
        </p:txBody>
      </p:sp>
      <p:sp>
        <p:nvSpPr>
          <p:cNvPr id="18" name="AutoShape 18"/>
          <p:cNvSpPr/>
          <p:nvPr/>
        </p:nvSpPr>
        <p:spPr>
          <a:xfrm>
            <a:off x="38798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19" name="AutoShape 19"/>
          <p:cNvSpPr/>
          <p:nvPr/>
        </p:nvSpPr>
        <p:spPr>
          <a:xfrm>
            <a:off x="51689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20" name="AutoShape 20"/>
          <p:cNvSpPr/>
          <p:nvPr/>
        </p:nvSpPr>
        <p:spPr>
          <a:xfrm>
            <a:off x="64579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21" name="Connector 21"/>
          <p:cNvCxnSpPr/>
          <p:nvPr/>
        </p:nvCxnSpPr>
        <p:spPr>
          <a:xfrm rot="-9964">
            <a:off x="787409" y="23939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Connector 22"/>
          <p:cNvCxnSpPr/>
          <p:nvPr/>
        </p:nvCxnSpPr>
        <p:spPr>
          <a:xfrm rot="-36765">
            <a:off x="6457984" y="23939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85800" y="24003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2800" y="25019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FPR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endParaRPr lang="en-US" sz="1800" dirty="0"/>
          </a:p>
        </p:txBody>
      </p:sp>
      <p:sp>
        <p:nvSpPr>
          <p:cNvPr id="25" name="AutoShape 25"/>
          <p:cNvSpPr/>
          <p:nvPr/>
        </p:nvSpPr>
        <p:spPr>
          <a:xfrm>
            <a:off x="25908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0.154</a:t>
            </a:r>
            <a:endParaRPr lang="en-US" sz="1800" dirty="0"/>
          </a:p>
        </p:txBody>
      </p:sp>
      <p:sp>
        <p:nvSpPr>
          <p:cNvPr id="26" name="AutoShape 26"/>
          <p:cNvSpPr/>
          <p:nvPr/>
        </p:nvSpPr>
        <p:spPr>
          <a:xfrm>
            <a:off x="38798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7" name="AutoShape 27"/>
          <p:cNvSpPr/>
          <p:nvPr/>
        </p:nvSpPr>
        <p:spPr>
          <a:xfrm>
            <a:off x="51689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8" name="AutoShape 28"/>
          <p:cNvSpPr/>
          <p:nvPr/>
        </p:nvSpPr>
        <p:spPr>
          <a:xfrm>
            <a:off x="64579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—</a:t>
            </a:r>
            <a:endParaRPr lang="en-US" sz="1800" dirty="0"/>
          </a:p>
        </p:txBody>
      </p:sp>
      <p:cxnSp>
        <p:nvCxnSpPr>
          <p:cNvPr id="29" name="Connector 29"/>
          <p:cNvCxnSpPr/>
          <p:nvPr/>
        </p:nvCxnSpPr>
        <p:spPr>
          <a:xfrm rot="-9964">
            <a:off x="787409" y="28130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30"/>
          <p:cNvCxnSpPr/>
          <p:nvPr/>
        </p:nvCxnSpPr>
        <p:spPr>
          <a:xfrm rot="-36765">
            <a:off x="6457984" y="28130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85800" y="28194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12800" y="29210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Acc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已裁决准确</a:t>
            </a:r>
            <a:endParaRPr lang="en-US" sz="1800" dirty="0"/>
          </a:p>
        </p:txBody>
      </p:sp>
      <p:sp>
        <p:nvSpPr>
          <p:cNvPr id="33" name="AutoShape 33"/>
          <p:cNvSpPr/>
          <p:nvPr/>
        </p:nvSpPr>
        <p:spPr>
          <a:xfrm>
            <a:off x="25908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0.931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38798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5" name="AutoShape 35"/>
          <p:cNvSpPr/>
          <p:nvPr/>
        </p:nvSpPr>
        <p:spPr>
          <a:xfrm>
            <a:off x="51689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6" name="AutoShape 36"/>
          <p:cNvSpPr/>
          <p:nvPr/>
        </p:nvSpPr>
        <p:spPr>
          <a:xfrm>
            <a:off x="64579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37" name="Connector 37"/>
          <p:cNvCxnSpPr/>
          <p:nvPr/>
        </p:nvCxnSpPr>
        <p:spPr>
          <a:xfrm rot="-9964">
            <a:off x="787409" y="3232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Connector 38"/>
          <p:cNvCxnSpPr/>
          <p:nvPr/>
        </p:nvCxnSpPr>
        <p:spPr>
          <a:xfrm rot="-36765">
            <a:off x="6457984" y="32321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685800" y="32385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812800" y="33401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未决率</a:t>
            </a:r>
            <a:endParaRPr lang="en-US" sz="1800" dirty="0"/>
          </a:p>
        </p:txBody>
      </p:sp>
      <p:sp>
        <p:nvSpPr>
          <p:cNvPr id="41" name="AutoShape 41"/>
          <p:cNvSpPr/>
          <p:nvPr/>
        </p:nvSpPr>
        <p:spPr>
          <a:xfrm>
            <a:off x="25908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lang="en-US" sz="1800" dirty="0"/>
          </a:p>
        </p:txBody>
      </p:sp>
      <p:sp>
        <p:nvSpPr>
          <p:cNvPr id="42" name="AutoShape 42"/>
          <p:cNvSpPr/>
          <p:nvPr/>
        </p:nvSpPr>
        <p:spPr>
          <a:xfrm>
            <a:off x="38798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12.6%</a:t>
            </a:r>
            <a:endParaRPr lang="en-US" sz="1800" dirty="0"/>
          </a:p>
        </p:txBody>
      </p:sp>
      <p:sp>
        <p:nvSpPr>
          <p:cNvPr id="43" name="AutoShape 43"/>
          <p:cNvSpPr/>
          <p:nvPr/>
        </p:nvSpPr>
        <p:spPr>
          <a:xfrm>
            <a:off x="51689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13.8%</a:t>
            </a:r>
            <a:endParaRPr lang="en-US" sz="1800" dirty="0"/>
          </a:p>
        </p:txBody>
      </p:sp>
      <p:sp>
        <p:nvSpPr>
          <p:cNvPr id="44" name="AutoShape 44"/>
          <p:cNvSpPr/>
          <p:nvPr/>
        </p:nvSpPr>
        <p:spPr>
          <a:xfrm>
            <a:off x="64579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15.0%</a:t>
            </a:r>
            <a:endParaRPr lang="en-US" sz="1800" dirty="0"/>
          </a:p>
        </p:txBody>
      </p:sp>
      <p:cxnSp>
        <p:nvCxnSpPr>
          <p:cNvPr id="45" name="Connector 45"/>
          <p:cNvCxnSpPr/>
          <p:nvPr/>
        </p:nvCxnSpPr>
        <p:spPr>
          <a:xfrm rot="-9964">
            <a:off x="787409" y="36512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" name="Connector 46"/>
          <p:cNvCxnSpPr/>
          <p:nvPr/>
        </p:nvCxnSpPr>
        <p:spPr>
          <a:xfrm rot="-36765">
            <a:off x="6457984" y="36512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685800" y="36576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04850" y="3759200"/>
            <a:ext cx="229286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Strict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判真且归因对</a:t>
            </a:r>
            <a:endParaRPr lang="en-US" sz="1800" dirty="0"/>
          </a:p>
        </p:txBody>
      </p:sp>
      <p:sp>
        <p:nvSpPr>
          <p:cNvPr id="49" name="AutoShape 49"/>
          <p:cNvSpPr/>
          <p:nvPr/>
        </p:nvSpPr>
        <p:spPr>
          <a:xfrm>
            <a:off x="25908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0.898</a:t>
            </a:r>
            <a:endParaRPr lang="en-US" sz="1800" dirty="0"/>
          </a:p>
        </p:txBody>
      </p:sp>
      <p:sp>
        <p:nvSpPr>
          <p:cNvPr id="50" name="AutoShape 50"/>
          <p:cNvSpPr/>
          <p:nvPr/>
        </p:nvSpPr>
        <p:spPr>
          <a:xfrm>
            <a:off x="38798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0.774</a:t>
            </a:r>
            <a:endParaRPr lang="en-US" sz="1800" dirty="0"/>
          </a:p>
        </p:txBody>
      </p:sp>
      <p:sp>
        <p:nvSpPr>
          <p:cNvPr id="51" name="AutoShape 51"/>
          <p:cNvSpPr/>
          <p:nvPr/>
        </p:nvSpPr>
        <p:spPr>
          <a:xfrm>
            <a:off x="51689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0.923</a:t>
            </a:r>
            <a:endParaRPr lang="en-US" sz="1800" dirty="0"/>
          </a:p>
        </p:txBody>
      </p:sp>
      <p:sp>
        <p:nvSpPr>
          <p:cNvPr id="52" name="AutoShape 52"/>
          <p:cNvSpPr/>
          <p:nvPr/>
        </p:nvSpPr>
        <p:spPr>
          <a:xfrm>
            <a:off x="64579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cxnSp>
        <p:nvCxnSpPr>
          <p:cNvPr id="53" name="Connector 53"/>
          <p:cNvCxnSpPr/>
          <p:nvPr/>
        </p:nvCxnSpPr>
        <p:spPr>
          <a:xfrm rot="-9964">
            <a:off x="787409" y="40703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-36765">
            <a:off x="6457984" y="40703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685800" y="40767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812800" y="4140200"/>
            <a:ext cx="2037492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Micro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实例级召回</a:t>
            </a:r>
            <a:endParaRPr lang="en-US" sz="1800" dirty="0"/>
          </a:p>
        </p:txBody>
      </p:sp>
      <p:sp>
        <p:nvSpPr>
          <p:cNvPr id="57" name="AutoShape 57"/>
          <p:cNvSpPr/>
          <p:nvPr/>
        </p:nvSpPr>
        <p:spPr>
          <a:xfrm>
            <a:off x="25908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0.675</a:t>
            </a:r>
            <a:endParaRPr lang="en-US" sz="1800" dirty="0"/>
          </a:p>
        </p:txBody>
      </p:sp>
      <p:sp>
        <p:nvSpPr>
          <p:cNvPr id="58" name="AutoShape 58"/>
          <p:cNvSpPr/>
          <p:nvPr/>
        </p:nvSpPr>
        <p:spPr>
          <a:xfrm>
            <a:off x="38798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0.592</a:t>
            </a:r>
            <a:endParaRPr lang="en-US" sz="1800" dirty="0"/>
          </a:p>
        </p:txBody>
      </p:sp>
      <p:sp>
        <p:nvSpPr>
          <p:cNvPr id="59" name="AutoShape 59"/>
          <p:cNvSpPr/>
          <p:nvPr/>
        </p:nvSpPr>
        <p:spPr>
          <a:xfrm>
            <a:off x="51689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0.778</a:t>
            </a:r>
            <a:endParaRPr lang="en-US" sz="1800" dirty="0"/>
          </a:p>
        </p:txBody>
      </p:sp>
      <p:sp>
        <p:nvSpPr>
          <p:cNvPr id="60" name="AutoShape 60"/>
          <p:cNvSpPr/>
          <p:nvPr/>
        </p:nvSpPr>
        <p:spPr>
          <a:xfrm>
            <a:off x="64579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0.895</a:t>
            </a:r>
            <a:endParaRPr lang="en-US" sz="1800" dirty="0"/>
          </a:p>
        </p:txBody>
      </p:sp>
      <p:cxnSp>
        <p:nvCxnSpPr>
          <p:cNvPr id="61" name="Connector 61"/>
          <p:cNvCxnSpPr/>
          <p:nvPr/>
        </p:nvCxnSpPr>
        <p:spPr>
          <a:xfrm rot="-9964">
            <a:off x="787409" y="44894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Connector 62"/>
          <p:cNvCxnSpPr/>
          <p:nvPr/>
        </p:nvCxnSpPr>
        <p:spPr>
          <a:xfrm rot="-36765">
            <a:off x="6457984" y="44894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AutoShape 63"/>
          <p:cNvSpPr/>
          <p:nvPr/>
        </p:nvSpPr>
        <p:spPr>
          <a:xfrm>
            <a:off x="685800" y="44958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64"/>
          <p:cNvSpPr/>
          <p:nvPr/>
        </p:nvSpPr>
        <p:spPr>
          <a:xfrm>
            <a:off x="812800" y="45974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风险加权分</a:t>
            </a:r>
            <a:endParaRPr lang="en-US" sz="1800" dirty="0"/>
          </a:p>
        </p:txBody>
      </p:sp>
      <p:sp>
        <p:nvSpPr>
          <p:cNvPr id="65" name="AutoShape 65"/>
          <p:cNvSpPr/>
          <p:nvPr/>
        </p:nvSpPr>
        <p:spPr>
          <a:xfrm>
            <a:off x="25908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0.829</a:t>
            </a:r>
            <a:endParaRPr lang="en-US" sz="1800" dirty="0"/>
          </a:p>
        </p:txBody>
      </p:sp>
      <p:sp>
        <p:nvSpPr>
          <p:cNvPr id="66" name="AutoShape 66"/>
          <p:cNvSpPr/>
          <p:nvPr/>
        </p:nvSpPr>
        <p:spPr>
          <a:xfrm>
            <a:off x="38798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0.786</a:t>
            </a:r>
            <a:endParaRPr lang="en-US" sz="1800" dirty="0"/>
          </a:p>
        </p:txBody>
      </p:sp>
      <p:sp>
        <p:nvSpPr>
          <p:cNvPr id="67" name="AutoShape 67"/>
          <p:cNvSpPr/>
          <p:nvPr/>
        </p:nvSpPr>
        <p:spPr>
          <a:xfrm>
            <a:off x="51689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0.862</a:t>
            </a:r>
            <a:endParaRPr lang="en-US" sz="1800" dirty="0"/>
          </a:p>
        </p:txBody>
      </p:sp>
      <p:sp>
        <p:nvSpPr>
          <p:cNvPr id="68" name="AutoShape 68"/>
          <p:cNvSpPr/>
          <p:nvPr/>
        </p:nvSpPr>
        <p:spPr>
          <a:xfrm>
            <a:off x="64579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0.864</a:t>
            </a:r>
            <a:endParaRPr lang="en-US" sz="1800" dirty="0"/>
          </a:p>
        </p:txBody>
      </p:sp>
      <p:cxnSp>
        <p:nvCxnSpPr>
          <p:cNvPr id="69" name="Connector 69"/>
          <p:cNvCxnSpPr/>
          <p:nvPr/>
        </p:nvCxnSpPr>
        <p:spPr>
          <a:xfrm rot="-9964">
            <a:off x="787409" y="49085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Connector 70"/>
          <p:cNvCxnSpPr/>
          <p:nvPr/>
        </p:nvCxnSpPr>
        <p:spPr>
          <a:xfrm rot="-36765">
            <a:off x="6457984" y="49085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AutoShape 71"/>
          <p:cNvSpPr/>
          <p:nvPr/>
        </p:nvSpPr>
        <p:spPr>
          <a:xfrm>
            <a:off x="660400" y="55499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85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口径：87 段合成集 + 20 段真实 CVE-fix；官方答案 2026-09-02 冻结、权重表 weights_20260903，score_batch.py 一键复现。fixed5＝第八波收口前基线（--no-signal-feedback）；wave8＝第八波盲区收口＋归因链修正＋signal-feedback on + ctx16384 的最终组态——两列差异含工具层修正，非单开关对照（仅切 signal_feedback 主指标逐项不变）。</a:t>
            </a:r>
          </a:p>
        </p:txBody>
      </p:sp>
      <p:sp>
        <p:nvSpPr>
          <p:cNvPr id="72" name="AutoShape 72"/>
          <p:cNvSpPr/>
          <p:nvPr/>
        </p:nvSpPr>
        <p:spPr>
          <a:xfrm>
            <a:off x="8077200" y="1422400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READING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三句结论</a:t>
            </a:r>
            <a:endParaRPr lang="en-US" sz="1800" dirty="0"/>
          </a:p>
        </p:txBody>
      </p:sp>
      <p:sp>
        <p:nvSpPr>
          <p:cNvPr id="73" name="AutoShape 73"/>
          <p:cNvSpPr/>
          <p:nvPr/>
        </p:nvSpPr>
        <p:spPr>
          <a:xfrm>
            <a:off x="7902926" y="1771650"/>
            <a:ext cx="50800" cy="7874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74"/>
          <p:cNvSpPr/>
          <p:nvPr/>
        </p:nvSpPr>
        <p:spPr>
          <a:xfrm>
            <a:off x="8086552" y="1724458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-72%，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召回反升</a:t>
            </a:r>
            <a:endParaRPr lang="en-US" sz="2000" dirty="0"/>
          </a:p>
        </p:txBody>
      </p:sp>
      <p:sp>
        <p:nvSpPr>
          <p:cNvPr id="75" name="AutoShape 75"/>
          <p:cNvSpPr/>
          <p:nvPr/>
        </p:nvSpPr>
        <p:spPr>
          <a:xfrm>
            <a:off x="8004526" y="2005317"/>
            <a:ext cx="412647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FPR 0.154 → 0.0435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Recall 0.967 → 1.000，不靠漏报换误报</a:t>
            </a:r>
          </a:p>
        </p:txBody>
      </p:sp>
      <p:sp>
        <p:nvSpPr>
          <p:cNvPr id="76" name="AutoShape 76"/>
          <p:cNvSpPr/>
          <p:nvPr/>
        </p:nvSpPr>
        <p:spPr>
          <a:xfrm>
            <a:off x="7907499" y="2781300"/>
            <a:ext cx="50800" cy="7874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" name="AutoShape 77"/>
          <p:cNvSpPr/>
          <p:nvPr/>
        </p:nvSpPr>
        <p:spPr>
          <a:xfrm>
            <a:off x="8077200" y="2781762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归因分上涨来自工具层收口</a:t>
            </a:r>
            <a:endParaRPr lang="en-US" sz="2000" dirty="0"/>
          </a:p>
        </p:txBody>
      </p:sp>
      <p:sp>
        <p:nvSpPr>
          <p:cNvPr id="78" name="AutoShape 78"/>
          <p:cNvSpPr/>
          <p:nvPr/>
        </p:nvSpPr>
        <p:spPr>
          <a:xfrm>
            <a:off x="8004526" y="3058886"/>
            <a:ext cx="4271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strict 0.774→0.923 ·micro 0.592→0.778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第八波收口＋归因链修正，非信任层开关</a:t>
            </a:r>
            <a:endParaRPr lang="en-US" sz="1600" b="0" i="0" u="none" strike="noStrike" dirty="0">
              <a:solidFill>
                <a:srgbClr val="5B677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AutoShape 79"/>
          <p:cNvSpPr/>
          <p:nvPr/>
        </p:nvSpPr>
        <p:spPr>
          <a:xfrm flipH="1">
            <a:off x="7902926" y="3721100"/>
            <a:ext cx="45719" cy="799123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" name="AutoShape 80"/>
          <p:cNvSpPr/>
          <p:nvPr/>
        </p:nvSpPr>
        <p:spPr>
          <a:xfrm>
            <a:off x="8255000" y="37211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真实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CVE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验证泛化</a:t>
            </a:r>
            <a:endParaRPr lang="en-US" sz="2000" dirty="0"/>
          </a:p>
        </p:txBody>
      </p:sp>
      <p:sp>
        <p:nvSpPr>
          <p:cNvPr id="81" name="AutoShape 81"/>
          <p:cNvSpPr/>
          <p:nvPr/>
        </p:nvSpPr>
        <p:spPr>
          <a:xfrm>
            <a:off x="8004526" y="4012223"/>
            <a:ext cx="406446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20 段真实修复 strict 1.000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micro 0.895 · 加权 0.864，非合成集刷分</a:t>
            </a:r>
          </a:p>
        </p:txBody>
      </p:sp>
      <p:sp>
        <p:nvSpPr>
          <p:cNvPr id="82" name="AutoShape 82"/>
          <p:cNvSpPr/>
          <p:nvPr/>
        </p:nvSpPr>
        <p:spPr>
          <a:xfrm>
            <a:off x="7958299" y="5435600"/>
            <a:ext cx="3746341" cy="736601"/>
          </a:xfrm>
          <a:prstGeom prst="roundRect">
            <a:avLst>
              <a:gd name="adj" fmla="val 7547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" name="AutoShape 84"/>
          <p:cNvSpPr/>
          <p:nvPr/>
        </p:nvSpPr>
        <p:spPr>
          <a:xfrm>
            <a:off x="8140114" y="5499100"/>
            <a:ext cx="3438774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000"/>
              </a:lnSpc>
              <a:defRPr/>
            </a:pPr>
            <a:r>
              <a:rPr lang="zh-CN" alt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良好信任层减少模型随机性带来的危害，因此出现未决率上升</a:t>
            </a:r>
            <a:endParaRPr lang="en-US" sz="16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1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5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3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7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1" dur="8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5" dur="8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3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0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4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8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9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3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7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2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9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3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1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5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65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3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7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5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9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97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01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06" dur="8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1" dur="1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3CE8102-BBE1-456B-BEA1-2E2D6A0AD48F}"/>
              </a:ext>
            </a:extLst>
          </p:cNvPr>
          <p:cNvGrpSpPr/>
          <p:nvPr/>
        </p:nvGrpSpPr>
        <p:grpSpPr>
          <a:xfrm>
            <a:off x="3810000" y="2641600"/>
            <a:ext cx="7442200" cy="1003300"/>
            <a:chOff x="3810000" y="2641600"/>
            <a:chExt cx="7442200" cy="1003300"/>
          </a:xfrm>
        </p:grpSpPr>
        <p:sp>
          <p:nvSpPr>
            <p:cNvPr id="5" name="AutoShape 5"/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4400" dirty="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140200" y="33909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LIVE SYSTEM · A FULL-STACK PRODUCT, NOT A DEMO</a:t>
              </a:r>
              <a:endParaRPr lang="en-US" sz="1100"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4140200" y="3708400"/>
            <a:ext cx="7112000" cy="90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软件「凿凿」实机运行（2 分 54 秒）：从粘贴代码到 SARIF 报告，每一个界面背后，都是刚才那套引擎在真实运行。</a:t>
            </a:r>
            <a:endParaRPr lang="en-US" sz="20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1B9C9B0-EC87-4253-AA11-52F3F9430D40}"/>
              </a:ext>
            </a:extLst>
          </p:cNvPr>
          <p:cNvGrpSpPr/>
          <p:nvPr/>
        </p:nvGrpSpPr>
        <p:grpSpPr>
          <a:xfrm>
            <a:off x="8610600" y="4902200"/>
            <a:ext cx="1092200" cy="330200"/>
            <a:chOff x="8610600" y="4902200"/>
            <a:chExt cx="1092200" cy="330200"/>
          </a:xfrm>
        </p:grpSpPr>
        <p:sp>
          <p:nvSpPr>
            <p:cNvPr id="17" name="AutoShape 17"/>
            <p:cNvSpPr/>
            <p:nvPr/>
          </p:nvSpPr>
          <p:spPr>
            <a:xfrm>
              <a:off x="8610600" y="4902200"/>
              <a:ext cx="5080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610600" y="5003800"/>
              <a:ext cx="1092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000" b="0" i="0" u="none" strike="noStrike" dirty="0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</a:t>
              </a:r>
              <a:r>
                <a:rPr lang="en-US" sz="1000" b="0" i="0" u="none" strike="noStrike" dirty="0" err="1">
                  <a:solidFill>
                    <a:srgbClr val="E8DE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1100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626461C-40E1-4943-AFD2-DC8BEE0B543C}"/>
              </a:ext>
            </a:extLst>
          </p:cNvPr>
          <p:cNvGrpSpPr/>
          <p:nvPr/>
        </p:nvGrpSpPr>
        <p:grpSpPr>
          <a:xfrm>
            <a:off x="4140200" y="4902200"/>
            <a:ext cx="6680200" cy="330200"/>
            <a:chOff x="4140200" y="4902200"/>
            <a:chExt cx="6680200" cy="330200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FC3FD62-84FC-4277-9C99-35B8C815CE1D}"/>
                </a:ext>
              </a:extLst>
            </p:cNvPr>
            <p:cNvGrpSpPr/>
            <p:nvPr/>
          </p:nvGrpSpPr>
          <p:grpSpPr>
            <a:xfrm>
              <a:off x="4140200" y="4902200"/>
              <a:ext cx="1092200" cy="330200"/>
              <a:chOff x="4140200" y="4902200"/>
              <a:chExt cx="1092200" cy="330200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4140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4140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01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研究背景</a:t>
                </a:r>
                <a:endParaRPr lang="en-US" sz="1100" dirty="0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CE2DF5E-A729-4A0D-9030-100B0C781A1D}"/>
                </a:ext>
              </a:extLst>
            </p:cNvPr>
            <p:cNvGrpSpPr/>
            <p:nvPr/>
          </p:nvGrpSpPr>
          <p:grpSpPr>
            <a:xfrm>
              <a:off x="5257800" y="4902200"/>
              <a:ext cx="1092200" cy="330200"/>
              <a:chOff x="5257800" y="4902200"/>
              <a:chExt cx="1092200" cy="3302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52578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52578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02 能力总览</a:t>
                </a:r>
                <a:endParaRPr lang="en-US" sz="1100" dirty="0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6A275B7-9A1D-4288-8286-86A37FCA9735}"/>
                </a:ext>
              </a:extLst>
            </p:cNvPr>
            <p:cNvGrpSpPr/>
            <p:nvPr/>
          </p:nvGrpSpPr>
          <p:grpSpPr>
            <a:xfrm>
              <a:off x="6375400" y="4902200"/>
              <a:ext cx="1092200" cy="330200"/>
              <a:chOff x="6375400" y="4902200"/>
              <a:chExt cx="1092200" cy="330200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63754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63754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03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我们的价值</a:t>
                </a:r>
                <a:endParaRPr lang="en-US" sz="1100" dirty="0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6CE51033-571C-4C84-BAD1-62FD75F3188D}"/>
                </a:ext>
              </a:extLst>
            </p:cNvPr>
            <p:cNvGrpSpPr/>
            <p:nvPr/>
          </p:nvGrpSpPr>
          <p:grpSpPr>
            <a:xfrm>
              <a:off x="7493000" y="4902200"/>
              <a:ext cx="1092200" cy="330200"/>
              <a:chOff x="7493000" y="4902200"/>
              <a:chExt cx="1092200" cy="3302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74930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74930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04 </a:t>
                </a:r>
                <a:r>
                  <a:rPr lang="en-US" sz="1000" b="0" i="0" u="none" strike="noStrike" dirty="0" err="1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项目的价值</a:t>
                </a:r>
                <a:endParaRPr lang="en-US" sz="1100" dirty="0"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FA8C30A6-3D53-4B19-983B-DC2ACBEC4226}"/>
                </a:ext>
              </a:extLst>
            </p:cNvPr>
            <p:cNvGrpSpPr/>
            <p:nvPr/>
          </p:nvGrpSpPr>
          <p:grpSpPr>
            <a:xfrm>
              <a:off x="9728200" y="4902200"/>
              <a:ext cx="1092200" cy="330200"/>
              <a:chOff x="9728200" y="4902200"/>
              <a:chExt cx="1092200" cy="330200"/>
            </a:xfrm>
          </p:grpSpPr>
          <p:sp>
            <p:nvSpPr>
              <p:cNvPr id="19" name="AutoShape 19"/>
              <p:cNvSpPr/>
              <p:nvPr/>
            </p:nvSpPr>
            <p:spPr>
              <a:xfrm>
                <a:off x="9728200" y="4902200"/>
                <a:ext cx="508000" cy="38100"/>
              </a:xfrm>
              <a:prstGeom prst="roundRect">
                <a:avLst>
                  <a:gd name="adj" fmla="val 0"/>
                </a:avLst>
              </a:prstGeom>
              <a:solidFill>
                <a:srgbClr val="56687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9728200" y="5003800"/>
                <a:ext cx="10922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000" b="0" i="0" u="none" strike="noStrike" dirty="0">
                    <a:solidFill>
                      <a:srgbClr val="6E808C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06 工程实现</a:t>
                </a:r>
                <a:endParaRPr lang="en-US" sz="1100" dirty="0"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Roboto Mono"/>
                <a:ea typeface="Roboto Mono"/>
                <a:cs typeface="Roboto Mono"/>
                <a:sym typeface="Roboto Mono"/>
              </a:rPr>
              <a:t>18 / 19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318516"/>
            <a:ext cx="381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05 SYSTEM DEMO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系统演示</a:t>
            </a:r>
            <a:endParaRPr lang="en-US" sz="2000" dirty="0"/>
          </a:p>
        </p:txBody>
      </p:sp>
      <p:sp>
        <p:nvSpPr>
          <p:cNvPr id="4" name="AutoShape 4"/>
          <p:cNvSpPr/>
          <p:nvPr/>
        </p:nvSpPr>
        <p:spPr>
          <a:xfrm>
            <a:off x="685800" y="634986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系统演示视频</a:t>
            </a:r>
            <a:endParaRPr lang="en-US" sz="3200" dirty="0"/>
          </a:p>
        </p:txBody>
      </p:sp>
      <p:sp>
        <p:nvSpPr>
          <p:cNvPr id="5" name="AutoShape 5"/>
          <p:cNvSpPr/>
          <p:nvPr/>
        </p:nvSpPr>
        <p:spPr>
          <a:xfrm>
            <a:off x="685800" y="1195502"/>
            <a:ext cx="6096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668000" y="6553200"/>
            <a:ext cx="838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788894"/>
                </a:solidFill>
                <a:latin typeface="Roboto Mono"/>
                <a:ea typeface="Roboto Mono"/>
                <a:cs typeface="Roboto Mono"/>
                <a:sym typeface="Roboto Mono"/>
              </a:rPr>
              <a:t>19 / 19</a:t>
            </a:r>
            <a:endParaRPr lang="en-US" sz="1100"/>
          </a:p>
        </p:txBody>
      </p:sp>
      <p:pic>
        <p:nvPicPr>
          <p:cNvPr id="30" name="NivisDemo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230856"/>
            <a:ext cx="9079903" cy="5148326"/>
          </a:xfrm>
          <a:prstGeom prst="rect">
            <a:avLst/>
          </a:prstGeom>
          <a:ln w="15875">
            <a:solidFill>
              <a:srgbClr val="3A4D5C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9191162" y="1039838"/>
            <a:ext cx="2788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演示动线</a:t>
            </a:r>
            <a:r>
              <a:rPr sz="18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· DEMO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2000" y="1534830"/>
            <a:ext cx="307800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01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粘贴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/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上传待检代码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02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四路并行召回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       规则 · AST污点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       正则预筛 · 外部扫描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03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两阶段封闭裁决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· N=3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投票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04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证据链定位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+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修复建议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05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SARIF，联动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IDE / CI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02" y="5188456"/>
            <a:ext cx="2954137" cy="1241031"/>
          </a:xfrm>
          <a:prstGeom prst="roundRect">
            <a:avLst>
              <a:gd name="adj" fmla="val 8000"/>
            </a:avLst>
          </a:prstGeom>
          <a:solidFill>
            <a:srgbClr val="24343F"/>
          </a:solidFill>
          <a:ln w="9525">
            <a:solidFill>
              <a:srgbClr val="3A4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200"/>
              </a:spcAft>
            </a:pP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</a:t>
            </a:r>
            <a:r>
              <a:rPr sz="105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时长</a:t>
            </a: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2 分 54 秒</a:t>
            </a:r>
          </a:p>
          <a:p>
            <a:pPr>
              <a:spcAft>
                <a:spcPts val="200"/>
              </a:spcAft>
            </a:pP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全程中文字幕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凿凿本地实机录制 </a:t>
            </a:r>
            <a:endParaRPr lang="en-US"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· Transformers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后端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5989" y="6429488"/>
            <a:ext cx="7772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点击画面播放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　·　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端到端呈现：代码输入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四路召回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裁决分级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修复建议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SARIF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/ IDE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联动</a:t>
            </a:r>
            <a:endParaRPr sz="1050" b="0" dirty="0">
              <a:solidFill>
                <a:srgbClr val="AEB9C2"/>
              </a:solidFill>
              <a:latin typeface="Roboto Mono"/>
              <a:ea typeface="Noto Sans SC"/>
              <a:cs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4011</Words>
  <Application>Microsoft Office PowerPoint</Application>
  <PresentationFormat>宽屏</PresentationFormat>
  <Paragraphs>737</Paragraphs>
  <Slides>28</Slides>
  <Notes>28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Noto Sans SC</vt:lpstr>
      <vt:lpstr>Roboto Mono</vt:lpstr>
      <vt:lpstr>思源黑体</vt:lpstr>
      <vt:lpstr>微软雅黑</vt:lpstr>
      <vt:lpstr>Arial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Garry White</dc:creator>
  <cp:lastModifiedBy>Garry White</cp:lastModifiedBy>
  <cp:revision>125</cp:revision>
  <dcterms:modified xsi:type="dcterms:W3CDTF">2026-09-07T07:29:43Z</dcterms:modified>
</cp:coreProperties>
</file>